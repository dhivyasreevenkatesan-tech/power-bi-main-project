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7" r:id="rId27"/>
    <p:sldId id="288" r:id="rId28"/>
    <p:sldId id="289" r:id="rId2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75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3825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tmp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13" Type="http://schemas.openxmlformats.org/officeDocument/2006/relationships/image" Target="../media/image25.tmp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12" Type="http://schemas.openxmlformats.org/officeDocument/2006/relationships/image" Target="../media/image24.tmp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11" Type="http://schemas.openxmlformats.org/officeDocument/2006/relationships/image" Target="../media/image23.tmp"/><Relationship Id="rId5" Type="http://schemas.openxmlformats.org/officeDocument/2006/relationships/image" Target="../media/image17.sv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svg"/><Relationship Id="rId14" Type="http://schemas.openxmlformats.org/officeDocument/2006/relationships/image" Target="../media/image26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svg"/><Relationship Id="rId11" Type="http://schemas.openxmlformats.org/officeDocument/2006/relationships/image" Target="../media/image36.tmp"/><Relationship Id="rId5" Type="http://schemas.openxmlformats.org/officeDocument/2006/relationships/image" Target="../media/image30.svg"/><Relationship Id="rId10" Type="http://schemas.openxmlformats.org/officeDocument/2006/relationships/image" Target="../media/image35.svg"/><Relationship Id="rId4" Type="http://schemas.openxmlformats.org/officeDocument/2006/relationships/image" Target="../media/image29.svg"/><Relationship Id="rId9" Type="http://schemas.openxmlformats.org/officeDocument/2006/relationships/image" Target="../media/image3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tmp"/><Relationship Id="rId5" Type="http://schemas.openxmlformats.org/officeDocument/2006/relationships/image" Target="../media/image39.svg"/><Relationship Id="rId4" Type="http://schemas.openxmlformats.org/officeDocument/2006/relationships/image" Target="../media/image38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tmp"/><Relationship Id="rId5" Type="http://schemas.openxmlformats.org/officeDocument/2006/relationships/image" Target="../media/image43.svg"/><Relationship Id="rId4" Type="http://schemas.openxmlformats.org/officeDocument/2006/relationships/image" Target="../media/image4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tmp"/><Relationship Id="rId5" Type="http://schemas.openxmlformats.org/officeDocument/2006/relationships/image" Target="../media/image47.tmp"/><Relationship Id="rId4" Type="http://schemas.openxmlformats.org/officeDocument/2006/relationships/image" Target="../media/image46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7" Type="http://schemas.openxmlformats.org/officeDocument/2006/relationships/image" Target="../media/image53.tmp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tmp"/><Relationship Id="rId5" Type="http://schemas.openxmlformats.org/officeDocument/2006/relationships/image" Target="../media/image51.svg"/><Relationship Id="rId4" Type="http://schemas.openxmlformats.org/officeDocument/2006/relationships/image" Target="../media/image50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tm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tmp"/><Relationship Id="rId5" Type="http://schemas.openxmlformats.org/officeDocument/2006/relationships/image" Target="../media/image58.svg"/><Relationship Id="rId4" Type="http://schemas.openxmlformats.org/officeDocument/2006/relationships/image" Target="../media/image57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tmp"/><Relationship Id="rId4" Type="http://schemas.openxmlformats.org/officeDocument/2006/relationships/image" Target="../media/image61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tmp"/><Relationship Id="rId5" Type="http://schemas.openxmlformats.org/officeDocument/2006/relationships/image" Target="../media/image65.svg"/><Relationship Id="rId4" Type="http://schemas.openxmlformats.org/officeDocument/2006/relationships/image" Target="../media/image6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tmp"/><Relationship Id="rId5" Type="http://schemas.openxmlformats.org/officeDocument/2006/relationships/image" Target="../media/image69.svg"/><Relationship Id="rId4" Type="http://schemas.openxmlformats.org/officeDocument/2006/relationships/image" Target="../media/image68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sv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3.tmp"/><Relationship Id="rId4" Type="http://schemas.openxmlformats.org/officeDocument/2006/relationships/image" Target="../media/image7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tm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tmp"/><Relationship Id="rId5" Type="http://schemas.openxmlformats.org/officeDocument/2006/relationships/image" Target="../media/image78.svg"/><Relationship Id="rId4" Type="http://schemas.openxmlformats.org/officeDocument/2006/relationships/image" Target="../media/image77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tmp"/><Relationship Id="rId4" Type="http://schemas.openxmlformats.org/officeDocument/2006/relationships/image" Target="../media/image81.tmp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4.tmp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7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8130" y="410542"/>
            <a:ext cx="638175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3"/>
          <p:cNvSpPr/>
          <p:nvPr/>
        </p:nvSpPr>
        <p:spPr>
          <a:xfrm>
            <a:off x="342900" y="532135"/>
            <a:ext cx="7444427" cy="21974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013"/>
              </a:spcBef>
              <a:buNone/>
            </a:pPr>
            <a:r>
              <a:rPr lang="en-US" sz="4460" b="1" kern="0" spc="-246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Wildlife Biodiversity</a:t>
            </a:r>
            <a:endParaRPr lang="en-US" sz="4460" dirty="0"/>
          </a:p>
        </p:txBody>
      </p:sp>
      <p:sp>
        <p:nvSpPr>
          <p:cNvPr id="8" name="Text 4"/>
          <p:cNvSpPr/>
          <p:nvPr/>
        </p:nvSpPr>
        <p:spPr>
          <a:xfrm>
            <a:off x="457200" y="1880756"/>
            <a:ext cx="5643205" cy="8488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013"/>
              </a:spcBef>
              <a:buNone/>
            </a:pPr>
            <a:r>
              <a:rPr lang="en-US" sz="4460" b="1" kern="0" spc="-246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&amp; National Park</a:t>
            </a:r>
            <a:endParaRPr lang="en-US" sz="4460" dirty="0"/>
          </a:p>
        </p:txBody>
      </p:sp>
      <p:sp>
        <p:nvSpPr>
          <p:cNvPr id="9" name="Text 5"/>
          <p:cNvSpPr/>
          <p:nvPr/>
        </p:nvSpPr>
        <p:spPr>
          <a:xfrm>
            <a:off x="458130" y="2571750"/>
            <a:ext cx="3280410" cy="8488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013"/>
              </a:spcBef>
              <a:buNone/>
            </a:pPr>
            <a:r>
              <a:rPr lang="en-US" sz="4460" b="1" kern="0" spc="-246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Analytics</a:t>
            </a:r>
            <a:endParaRPr lang="en-US" sz="4460" dirty="0"/>
          </a:p>
        </p:txBody>
      </p:sp>
      <p:sp>
        <p:nvSpPr>
          <p:cNvPr id="10" name="Text 6"/>
          <p:cNvSpPr/>
          <p:nvPr/>
        </p:nvSpPr>
        <p:spPr>
          <a:xfrm>
            <a:off x="458130" y="3471802"/>
            <a:ext cx="541190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73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Interactive Data Analytics using Power BI</a:t>
            </a:r>
            <a:endParaRPr lang="en-US" sz="1730" dirty="0"/>
          </a:p>
        </p:txBody>
      </p:sp>
      <p:sp>
        <p:nvSpPr>
          <p:cNvPr id="11" name="Text 7"/>
          <p:cNvSpPr/>
          <p:nvPr/>
        </p:nvSpPr>
        <p:spPr>
          <a:xfrm>
            <a:off x="1679341" y="4064586"/>
            <a:ext cx="1780911" cy="5570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Presented by </a:t>
            </a:r>
          </a:p>
          <a:p>
            <a:pPr marL="0" indent="0" algn="l">
              <a:buNone/>
            </a:pPr>
            <a:endParaRPr lang="en-US" sz="1220" b="1" dirty="0">
              <a:solidFill>
                <a:srgbClr val="D7E0D0"/>
              </a:solidFill>
              <a:latin typeface="DM Sans" pitchFamily="34" charset="0"/>
              <a:ea typeface="DM Sans" pitchFamily="34" charset="-122"/>
              <a:cs typeface="DM Sans" pitchFamily="34" charset="-120"/>
            </a:endParaRPr>
          </a:p>
          <a:p>
            <a:pPr marL="0" indent="0" algn="ctr">
              <a:buNone/>
            </a:pPr>
            <a:r>
              <a:rPr lang="en-US" sz="1220" b="1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Dhivyasree V</a:t>
            </a:r>
            <a:endParaRPr lang="en-US" sz="122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3398974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Introduction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302364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Biodiversity represents the variety of living organisms. National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parks protect wildlife and ecosystems.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8167" y="2699258"/>
            <a:ext cx="2619375" cy="17240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900958"/>
            <a:ext cx="3211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44798" y="3208853"/>
            <a:ext cx="2919926" cy="9676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datasets contain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information about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species, parks, habitats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conservation.</a:t>
            </a:r>
            <a:endParaRPr lang="en-US" sz="1510" dirty="0"/>
          </a:p>
        </p:txBody>
      </p:sp>
      <p:sp>
        <p:nvSpPr>
          <p:cNvPr id="13" name="Shape 11"/>
          <p:cNvSpPr/>
          <p:nvPr/>
        </p:nvSpPr>
        <p:spPr>
          <a:xfrm>
            <a:off x="3262313" y="2699258"/>
            <a:ext cx="2619375" cy="17240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448943" y="2900958"/>
            <a:ext cx="3609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448943" y="3208853"/>
            <a:ext cx="2848340" cy="727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analytics helps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convert these records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into meaningful insights.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6066458" y="2699258"/>
            <a:ext cx="2619375" cy="1724025"/>
          </a:xfrm>
          <a:prstGeom prst="rect">
            <a:avLst/>
          </a:prstGeom>
          <a:solidFill>
            <a:srgbClr val="203D2B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253088" y="2900958"/>
            <a:ext cx="36661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C9D2C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253088" y="3189908"/>
            <a:ext cx="2748699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Records become</a:t>
            </a:r>
            <a:endParaRPr lang="en-US" sz="1870" dirty="0"/>
          </a:p>
        </p:txBody>
      </p:sp>
      <p:sp>
        <p:nvSpPr>
          <p:cNvPr id="19" name="Text 17"/>
          <p:cNvSpPr/>
          <p:nvPr/>
        </p:nvSpPr>
        <p:spPr>
          <a:xfrm>
            <a:off x="6253088" y="3446636"/>
            <a:ext cx="2079464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evidence for</a:t>
            </a:r>
            <a:endParaRPr lang="en-US" sz="1870" dirty="0"/>
          </a:p>
        </p:txBody>
      </p:sp>
      <p:sp>
        <p:nvSpPr>
          <p:cNvPr id="20" name="Text 18"/>
          <p:cNvSpPr/>
          <p:nvPr/>
        </p:nvSpPr>
        <p:spPr>
          <a:xfrm>
            <a:off x="6253088" y="3703365"/>
            <a:ext cx="2162949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conservation</a:t>
            </a:r>
            <a:endParaRPr lang="en-US" sz="1870" dirty="0"/>
          </a:p>
        </p:txBody>
      </p:sp>
      <p:sp>
        <p:nvSpPr>
          <p:cNvPr id="21" name="Text 19"/>
          <p:cNvSpPr/>
          <p:nvPr/>
        </p:nvSpPr>
        <p:spPr>
          <a:xfrm>
            <a:off x="6253088" y="3960093"/>
            <a:ext cx="1646560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decisions.</a:t>
            </a:r>
            <a:endParaRPr lang="en-US" sz="1870" dirty="0"/>
          </a:p>
        </p:txBody>
      </p:sp>
      <p:sp>
        <p:nvSpPr>
          <p:cNvPr id="22" name="Text 20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8" y="-8152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525975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Project Overview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716615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91"/>
              </a:spcBef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structured view of wildlife, parks and conservation patterns.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70683" y="2875050"/>
            <a:ext cx="2443163" cy="590550"/>
          </a:xfrm>
          <a:prstGeom prst="rect">
            <a:avLst/>
          </a:prstGeom>
          <a:solidFill>
            <a:srgbClr val="E7E4D9"/>
          </a:solidFill>
          <a:ln w="4763">
            <a:solidFill>
              <a:srgbClr val="1E3C2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83352" y="3036689"/>
            <a:ext cx="1990561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Species records</a:t>
            </a:r>
            <a:endParaRPr lang="en-US" sz="1440" dirty="0"/>
          </a:p>
        </p:txBody>
      </p:sp>
      <p:sp>
        <p:nvSpPr>
          <p:cNvPr id="12" name="Text 10"/>
          <p:cNvSpPr/>
          <p:nvPr/>
        </p:nvSpPr>
        <p:spPr>
          <a:xfrm>
            <a:off x="3037210" y="3016151"/>
            <a:ext cx="28622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60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→</a:t>
            </a:r>
            <a:endParaRPr lang="en-US" sz="1660" dirty="0"/>
          </a:p>
        </p:txBody>
      </p:sp>
      <p:sp>
        <p:nvSpPr>
          <p:cNvPr id="13" name="Shape 11"/>
          <p:cNvSpPr/>
          <p:nvPr/>
        </p:nvSpPr>
        <p:spPr>
          <a:xfrm>
            <a:off x="3350419" y="2854784"/>
            <a:ext cx="2443163" cy="590550"/>
          </a:xfrm>
          <a:prstGeom prst="rect">
            <a:avLst/>
          </a:prstGeom>
          <a:solidFill>
            <a:srgbClr val="E7E4D9"/>
          </a:solidFill>
          <a:ln w="4763">
            <a:solidFill>
              <a:srgbClr val="1E3C2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542098" y="3036689"/>
            <a:ext cx="2059729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Power BI model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5930578" y="3016151"/>
            <a:ext cx="28622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60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→</a:t>
            </a:r>
            <a:endParaRPr lang="en-US" sz="1660" dirty="0"/>
          </a:p>
        </p:txBody>
      </p:sp>
      <p:sp>
        <p:nvSpPr>
          <p:cNvPr id="16" name="Shape 14"/>
          <p:cNvSpPr/>
          <p:nvPr/>
        </p:nvSpPr>
        <p:spPr>
          <a:xfrm>
            <a:off x="6243786" y="2854784"/>
            <a:ext cx="2443163" cy="590550"/>
          </a:xfrm>
          <a:prstGeom prst="rect">
            <a:avLst/>
          </a:prstGeom>
          <a:solidFill>
            <a:srgbClr val="E7E4D9"/>
          </a:solidFill>
          <a:ln w="4763">
            <a:solidFill>
              <a:srgbClr val="1E3C2D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071343" y="3036689"/>
            <a:ext cx="2787975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4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Interactive dashboard</a:t>
            </a: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457200" y="3717727"/>
            <a:ext cx="81325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STUDY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3975050"/>
            <a:ext cx="230360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distribution,</a:t>
            </a: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457200" y="4194497"/>
            <a:ext cx="314474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abundance and occurrence.</a:t>
            </a:r>
            <a:endParaRPr lang="en-US" sz="1440" dirty="0"/>
          </a:p>
        </p:txBody>
      </p:sp>
      <p:sp>
        <p:nvSpPr>
          <p:cNvPr id="21" name="Text 19"/>
          <p:cNvSpPr/>
          <p:nvPr/>
        </p:nvSpPr>
        <p:spPr>
          <a:xfrm>
            <a:off x="3261345" y="3717727"/>
            <a:ext cx="11964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261345" y="3975050"/>
            <a:ext cx="336366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Native / non-native, parks and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3261345" y="4194497"/>
            <a:ext cx="125844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categories.</a:t>
            </a:r>
            <a:endParaRPr lang="en-US" sz="1440" dirty="0"/>
          </a:p>
        </p:txBody>
      </p:sp>
      <p:sp>
        <p:nvSpPr>
          <p:cNvPr id="24" name="Text 22"/>
          <p:cNvSpPr/>
          <p:nvPr/>
        </p:nvSpPr>
        <p:spPr>
          <a:xfrm>
            <a:off x="6065490" y="3717727"/>
            <a:ext cx="11287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065490" y="3975050"/>
            <a:ext cx="321720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Rare and threatened species</a:t>
            </a:r>
            <a:endParaRPr lang="en-US" sz="1440" dirty="0"/>
          </a:p>
        </p:txBody>
      </p:sp>
      <p:sp>
        <p:nvSpPr>
          <p:cNvPr id="26" name="Text 24"/>
          <p:cNvSpPr/>
          <p:nvPr/>
        </p:nvSpPr>
        <p:spPr>
          <a:xfrm>
            <a:off x="6065490" y="4194497"/>
            <a:ext cx="104078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patterns.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306" y="11162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12285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Problem Statement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637841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spcBef>
                <a:spcPts val="891"/>
              </a:spcBef>
            </a:pPr>
            <a:r>
              <a:rPr lang="en-GB" sz="1510" dirty="0"/>
              <a:t>Wildlife data contains a large number of records and different attributes, making manual analysis difficult.</a:t>
            </a:r>
          </a:p>
        </p:txBody>
      </p:sp>
      <p:sp>
        <p:nvSpPr>
          <p:cNvPr id="10" name="Shape 8"/>
          <p:cNvSpPr/>
          <p:nvPr/>
        </p:nvSpPr>
        <p:spPr>
          <a:xfrm>
            <a:off x="457684" y="2295748"/>
            <a:ext cx="3976687" cy="2076450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731490" y="2494062"/>
            <a:ext cx="392445" cy="7905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504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?</a:t>
            </a:r>
            <a:endParaRPr lang="en-US" sz="5040" dirty="0"/>
          </a:p>
        </p:txBody>
      </p:sp>
      <p:sp>
        <p:nvSpPr>
          <p:cNvPr id="12" name="Text 10"/>
          <p:cNvSpPr/>
          <p:nvPr/>
        </p:nvSpPr>
        <p:spPr>
          <a:xfrm>
            <a:off x="731490" y="3294162"/>
            <a:ext cx="2946142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Which signals are</a:t>
            </a:r>
            <a:endParaRPr lang="en-US" sz="1870" dirty="0"/>
          </a:p>
        </p:txBody>
      </p:sp>
      <p:sp>
        <p:nvSpPr>
          <p:cNvPr id="13" name="Text 11"/>
          <p:cNvSpPr/>
          <p:nvPr/>
        </p:nvSpPr>
        <p:spPr>
          <a:xfrm>
            <a:off x="731490" y="3555653"/>
            <a:ext cx="3019083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easiest to miss in a</a:t>
            </a:r>
            <a:endParaRPr lang="en-US" sz="1870" dirty="0"/>
          </a:p>
        </p:txBody>
      </p:sp>
      <p:sp>
        <p:nvSpPr>
          <p:cNvPr id="14" name="Text 12"/>
          <p:cNvSpPr/>
          <p:nvPr/>
        </p:nvSpPr>
        <p:spPr>
          <a:xfrm>
            <a:off x="731490" y="3817144"/>
            <a:ext cx="2109743" cy="290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87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spreadsheet?</a:t>
            </a:r>
            <a:endParaRPr lang="en-US" sz="1870" dirty="0"/>
          </a:p>
        </p:txBody>
      </p:sp>
      <p:sp>
        <p:nvSpPr>
          <p:cNvPr id="16" name="Text 14"/>
          <p:cNvSpPr/>
          <p:nvPr/>
        </p:nvSpPr>
        <p:spPr>
          <a:xfrm>
            <a:off x="4846811" y="2582912"/>
            <a:ext cx="313004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4846811" y="2930947"/>
            <a:ext cx="374819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4846811" y="3278981"/>
            <a:ext cx="383478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22" name="Text 20"/>
          <p:cNvSpPr/>
          <p:nvPr/>
        </p:nvSpPr>
        <p:spPr>
          <a:xfrm>
            <a:off x="4846811" y="3627016"/>
            <a:ext cx="459243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4846811" y="3846463"/>
            <a:ext cx="209155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440" dirty="0"/>
          </a:p>
        </p:txBody>
      </p:sp>
      <p:sp>
        <p:nvSpPr>
          <p:cNvPr id="24" name="Text 2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CDAD48A7-EE17-2271-EF3C-1FF5C5B5DE9B}"/>
              </a:ext>
            </a:extLst>
          </p:cNvPr>
          <p:cNvSpPr txBox="1"/>
          <p:nvPr/>
        </p:nvSpPr>
        <p:spPr>
          <a:xfrm>
            <a:off x="4568813" y="2538577"/>
            <a:ext cx="4435450" cy="1718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510" dirty="0"/>
              <a:t>Major challenges: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analyse large wildlife records.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compare species across parks.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identify rare and threatened species.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understand conservation patterns.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510" dirty="0"/>
              <a:t>Difficult to identify relationships between park area and species count.</a:t>
            </a:r>
            <a:endParaRPr lang="en-IN" sz="15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2749667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Objectives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177088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analysis is designed to move from records to comparable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80790" y="2128881"/>
            <a:ext cx="2619375" cy="24098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216869"/>
            <a:ext cx="8411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SCOPE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4128" y="259102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82464" y="2515344"/>
            <a:ext cx="276562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total and unique</a:t>
            </a:r>
            <a:endParaRPr lang="en-US" sz="1440" dirty="0"/>
          </a:p>
        </p:txBody>
      </p:sp>
      <p:sp>
        <p:nvSpPr>
          <p:cNvPr id="14" name="Text 12"/>
          <p:cNvSpPr/>
          <p:nvPr/>
        </p:nvSpPr>
        <p:spPr>
          <a:xfrm>
            <a:off x="782464" y="2734791"/>
            <a:ext cx="90767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</a:t>
            </a:r>
            <a:endParaRPr lang="en-US" sz="1440" dirty="0"/>
          </a:p>
        </p:txBody>
      </p:sp>
      <p:sp>
        <p:nvSpPr>
          <p:cNvPr id="15" name="Shape 13"/>
          <p:cNvSpPr/>
          <p:nvPr/>
        </p:nvSpPr>
        <p:spPr>
          <a:xfrm>
            <a:off x="644128" y="3117354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82464" y="3041675"/>
            <a:ext cx="278991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parks and states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644128" y="3424238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782464" y="3348558"/>
            <a:ext cx="161928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Study species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82464" y="3568005"/>
            <a:ext cx="121143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categories</a:t>
            </a:r>
            <a:endParaRPr lang="en-US" sz="1440" dirty="0"/>
          </a:p>
        </p:txBody>
      </p:sp>
      <p:sp>
        <p:nvSpPr>
          <p:cNvPr id="20" name="Shape 18"/>
          <p:cNvSpPr/>
          <p:nvPr/>
        </p:nvSpPr>
        <p:spPr>
          <a:xfrm>
            <a:off x="3284935" y="2128880"/>
            <a:ext cx="2619375" cy="24098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448943" y="2216869"/>
            <a:ext cx="12359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48273" y="259102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586609" y="2515344"/>
            <a:ext cx="228503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native and</a:t>
            </a:r>
            <a:endParaRPr lang="en-US" sz="1440" dirty="0"/>
          </a:p>
        </p:txBody>
      </p:sp>
      <p:sp>
        <p:nvSpPr>
          <p:cNvPr id="24" name="Text 22"/>
          <p:cNvSpPr/>
          <p:nvPr/>
        </p:nvSpPr>
        <p:spPr>
          <a:xfrm>
            <a:off x="3586609" y="2734791"/>
            <a:ext cx="218016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non-native species</a:t>
            </a:r>
            <a:endParaRPr lang="en-US" sz="1440" dirty="0"/>
          </a:p>
        </p:txBody>
      </p:sp>
      <p:sp>
        <p:nvSpPr>
          <p:cNvPr id="25" name="Shape 23"/>
          <p:cNvSpPr/>
          <p:nvPr/>
        </p:nvSpPr>
        <p:spPr>
          <a:xfrm>
            <a:off x="3448273" y="3117354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586609" y="3041675"/>
            <a:ext cx="225272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abundance,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3586609" y="3261122"/>
            <a:ext cx="179805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occurrence and</a:t>
            </a:r>
            <a:endParaRPr lang="en-US" sz="1440" dirty="0"/>
          </a:p>
        </p:txBody>
      </p:sp>
      <p:sp>
        <p:nvSpPr>
          <p:cNvPr id="28" name="Text 26"/>
          <p:cNvSpPr/>
          <p:nvPr/>
        </p:nvSpPr>
        <p:spPr>
          <a:xfrm>
            <a:off x="3586609" y="3480569"/>
            <a:ext cx="130217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seasonality</a:t>
            </a:r>
            <a:endParaRPr lang="en-US" sz="1440" dirty="0"/>
          </a:p>
        </p:txBody>
      </p:sp>
      <p:sp>
        <p:nvSpPr>
          <p:cNvPr id="29" name="Shape 27"/>
          <p:cNvSpPr/>
          <p:nvPr/>
        </p:nvSpPr>
        <p:spPr>
          <a:xfrm>
            <a:off x="3448273" y="3863132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3586609" y="3787453"/>
            <a:ext cx="270806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rare/threatened</a:t>
            </a:r>
            <a:endParaRPr lang="en-US" sz="1440" dirty="0"/>
          </a:p>
        </p:txBody>
      </p:sp>
      <p:sp>
        <p:nvSpPr>
          <p:cNvPr id="31" name="Text 29"/>
          <p:cNvSpPr/>
          <p:nvPr/>
        </p:nvSpPr>
        <p:spPr>
          <a:xfrm>
            <a:off x="3586609" y="4006900"/>
            <a:ext cx="90767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</a:t>
            </a:r>
            <a:endParaRPr lang="en-US" sz="1440" dirty="0"/>
          </a:p>
        </p:txBody>
      </p:sp>
      <p:sp>
        <p:nvSpPr>
          <p:cNvPr id="32" name="Shape 30"/>
          <p:cNvSpPr/>
          <p:nvPr/>
        </p:nvSpPr>
        <p:spPr>
          <a:xfrm>
            <a:off x="6043837" y="2103224"/>
            <a:ext cx="2619375" cy="240982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6253088" y="2216869"/>
            <a:ext cx="9927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252418" y="259102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6390754" y="2515344"/>
            <a:ext cx="219729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Study conservation</a:t>
            </a:r>
            <a:endParaRPr lang="en-US" sz="1440" dirty="0"/>
          </a:p>
        </p:txBody>
      </p:sp>
      <p:sp>
        <p:nvSpPr>
          <p:cNvPr id="36" name="Text 34"/>
          <p:cNvSpPr/>
          <p:nvPr/>
        </p:nvSpPr>
        <p:spPr>
          <a:xfrm>
            <a:off x="6390754" y="2734791"/>
            <a:ext cx="73915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status</a:t>
            </a:r>
            <a:endParaRPr lang="en-US" sz="1440" dirty="0"/>
          </a:p>
        </p:txBody>
      </p:sp>
      <p:sp>
        <p:nvSpPr>
          <p:cNvPr id="37" name="Shape 35"/>
          <p:cNvSpPr/>
          <p:nvPr/>
        </p:nvSpPr>
        <p:spPr>
          <a:xfrm>
            <a:off x="6252418" y="3117354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6390754" y="3041675"/>
            <a:ext cx="173836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parks</a:t>
            </a:r>
            <a:endParaRPr lang="en-US" sz="1440" dirty="0"/>
          </a:p>
        </p:txBody>
      </p:sp>
      <p:sp>
        <p:nvSpPr>
          <p:cNvPr id="39" name="Shape 37"/>
          <p:cNvSpPr/>
          <p:nvPr/>
        </p:nvSpPr>
        <p:spPr>
          <a:xfrm>
            <a:off x="6252418" y="3424238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390754" y="3348558"/>
            <a:ext cx="216072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 an interactive</a:t>
            </a:r>
            <a:endParaRPr lang="en-US" sz="1440" dirty="0"/>
          </a:p>
        </p:txBody>
      </p:sp>
      <p:sp>
        <p:nvSpPr>
          <p:cNvPr id="41" name="Text 39"/>
          <p:cNvSpPr/>
          <p:nvPr/>
        </p:nvSpPr>
        <p:spPr>
          <a:xfrm>
            <a:off x="6390754" y="3568005"/>
            <a:ext cx="124296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</a:t>
            </a:r>
            <a:endParaRPr lang="en-US" sz="1440" dirty="0"/>
          </a:p>
        </p:txBody>
      </p:sp>
      <p:sp>
        <p:nvSpPr>
          <p:cNvPr id="42" name="Text 40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4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60297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Dataset Overview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737799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and park-related information forms the analytical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foundation.</a:t>
            </a:r>
            <a:endParaRPr lang="en-US" sz="1510" dirty="0"/>
          </a:p>
        </p:txBody>
      </p:sp>
      <p:sp>
        <p:nvSpPr>
          <p:cNvPr id="10" name="Text 8"/>
          <p:cNvSpPr/>
          <p:nvPr/>
        </p:nvSpPr>
        <p:spPr>
          <a:xfrm>
            <a:off x="457200" y="2246486"/>
            <a:ext cx="510756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ID · Common Name · Scientific Name ·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457200" y="2465933"/>
            <a:ext cx="275537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· Order · Category  </a:t>
            </a:r>
            <a:r>
              <a:rPr lang="en-US" sz="1440" dirty="0" err="1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etc</a:t>
            </a: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456530" y="2797746"/>
            <a:ext cx="4376738" cy="4763"/>
          </a:xfrm>
          <a:prstGeom prst="rect">
            <a:avLst/>
          </a:prstGeom>
          <a:solidFill>
            <a:srgbClr val="1E3C2D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57200" y="2895823"/>
            <a:ext cx="449879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Name · Park Code · State · Park Area etc..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456530" y="3227636"/>
            <a:ext cx="4376738" cy="4763"/>
          </a:xfrm>
          <a:prstGeom prst="rect">
            <a:avLst/>
          </a:prstGeom>
          <a:solidFill>
            <a:srgbClr val="1E3C2D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57200" y="3325713"/>
            <a:ext cx="554346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Native Species · Nativeness · Non-Native Species ·</a:t>
            </a:r>
            <a:endParaRPr lang="en-US" sz="1440" dirty="0"/>
          </a:p>
        </p:txBody>
      </p:sp>
      <p:sp>
        <p:nvSpPr>
          <p:cNvPr id="16" name="Text 14"/>
          <p:cNvSpPr/>
          <p:nvPr/>
        </p:nvSpPr>
        <p:spPr>
          <a:xfrm>
            <a:off x="457200" y="3545160"/>
            <a:ext cx="147494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Rare Species </a:t>
            </a:r>
            <a:r>
              <a:rPr lang="en-US" sz="1440" dirty="0" err="1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etc</a:t>
            </a: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456530" y="3876973"/>
            <a:ext cx="4376738" cy="4763"/>
          </a:xfrm>
          <a:prstGeom prst="rect">
            <a:avLst/>
          </a:prstGeom>
          <a:solidFill>
            <a:srgbClr val="1E3C2D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57200" y="3975050"/>
            <a:ext cx="5317197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Conservation Status · Abundance · Occurrence ·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457200" y="4194497"/>
            <a:ext cx="132074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Seasonality </a:t>
            </a:r>
            <a:r>
              <a:rPr lang="en-US" sz="1440" dirty="0" err="1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etc</a:t>
            </a: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…</a:t>
            </a:r>
            <a:endParaRPr lang="en-US" sz="1440" dirty="0"/>
          </a:p>
        </p:txBody>
      </p:sp>
      <p:sp>
        <p:nvSpPr>
          <p:cNvPr id="20" name="Shape 18"/>
          <p:cNvSpPr/>
          <p:nvPr/>
        </p:nvSpPr>
        <p:spPr>
          <a:xfrm>
            <a:off x="5106144" y="2255044"/>
            <a:ext cx="3581400" cy="1905000"/>
          </a:xfrm>
          <a:prstGeom prst="rect">
            <a:avLst/>
          </a:prstGeom>
          <a:solidFill>
            <a:srgbClr val="E7E4D9"/>
          </a:solidFill>
          <a:ln w="9525">
            <a:solidFill>
              <a:srgbClr val="213C2B">
                <a:alpha val="30196"/>
              </a:srgbClr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6794450" y="2801689"/>
            <a:ext cx="204787" cy="204787"/>
          </a:xfrm>
          <a:prstGeom prst="rect">
            <a:avLst/>
          </a:prstGeom>
          <a:ln w="9525">
            <a:solidFill>
              <a:srgbClr val="C98B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436840" y="3124051"/>
            <a:ext cx="385316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b="1" kern="0" spc="156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DATASET SCREENSHOT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8812" y="3417615"/>
            <a:ext cx="30679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with a verified project visual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0A9EC3-B3D3-2A40-3B80-72AF4F8D6D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37984" t="-94281" r="-9113" b="-32174"/>
          <a:stretch>
            <a:fillRect/>
          </a:stretch>
        </p:blipFill>
        <p:spPr>
          <a:xfrm>
            <a:off x="0" y="110413"/>
            <a:ext cx="9144000" cy="49226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457088" y="866626"/>
            <a:ext cx="347663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96020" y="785813"/>
            <a:ext cx="308273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20" b="1" kern="0" spc="220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02 / DATA FOUNDATION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627727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Tools &amp; Technologies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394185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Power BI workflow keeps preparation, calculation and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visualization in one analytical surface.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8130" y="2161208"/>
            <a:ext cx="1952625" cy="220980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381176"/>
            <a:ext cx="48192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6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2160" dirty="0"/>
          </a:p>
        </p:txBody>
      </p:sp>
      <p:sp>
        <p:nvSpPr>
          <p:cNvPr id="12" name="Text 10"/>
          <p:cNvSpPr/>
          <p:nvPr/>
        </p:nvSpPr>
        <p:spPr>
          <a:xfrm>
            <a:off x="644798" y="2942109"/>
            <a:ext cx="1471464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800" b="1" dirty="0">
                <a:solidFill>
                  <a:srgbClr val="2F3A3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Power BI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4798" y="3318867"/>
            <a:ext cx="1815852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Visualization and</a:t>
            </a:r>
            <a:endParaRPr lang="en-US" sz="1370" dirty="0"/>
          </a:p>
        </p:txBody>
      </p:sp>
      <p:sp>
        <p:nvSpPr>
          <p:cNvPr id="14" name="Text 12"/>
          <p:cNvSpPr/>
          <p:nvPr/>
        </p:nvSpPr>
        <p:spPr>
          <a:xfrm>
            <a:off x="644798" y="3527375"/>
            <a:ext cx="1183667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549798" y="2161208"/>
            <a:ext cx="1952625" cy="220980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736428" y="2381176"/>
            <a:ext cx="5585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6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2160" dirty="0"/>
          </a:p>
        </p:txBody>
      </p:sp>
      <p:sp>
        <p:nvSpPr>
          <p:cNvPr id="17" name="Text 15"/>
          <p:cNvSpPr/>
          <p:nvPr/>
        </p:nvSpPr>
        <p:spPr>
          <a:xfrm>
            <a:off x="2736428" y="2942109"/>
            <a:ext cx="1063712" cy="628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F3A3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Power</a:t>
            </a:r>
            <a:endParaRPr lang="en-US" sz="1800" dirty="0"/>
          </a:p>
          <a:p>
            <a:pPr marL="0" indent="0" algn="l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F3A3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Query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736428" y="3661767"/>
            <a:ext cx="1927585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cleaning and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2736428" y="3870275"/>
            <a:ext cx="1611734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transformation</a:t>
            </a:r>
            <a:endParaRPr lang="en-US" sz="1370" dirty="0"/>
          </a:p>
        </p:txBody>
      </p:sp>
      <p:sp>
        <p:nvSpPr>
          <p:cNvPr id="20" name="Shape 18"/>
          <p:cNvSpPr/>
          <p:nvPr/>
        </p:nvSpPr>
        <p:spPr>
          <a:xfrm>
            <a:off x="4641503" y="2161208"/>
            <a:ext cx="1952625" cy="220980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828133" y="2381176"/>
            <a:ext cx="55351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6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2160" dirty="0"/>
          </a:p>
        </p:txBody>
      </p:sp>
      <p:sp>
        <p:nvSpPr>
          <p:cNvPr id="22" name="Text 20"/>
          <p:cNvSpPr/>
          <p:nvPr/>
        </p:nvSpPr>
        <p:spPr>
          <a:xfrm>
            <a:off x="4828133" y="2942109"/>
            <a:ext cx="81267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800" b="1" dirty="0">
                <a:solidFill>
                  <a:srgbClr val="2F3A3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DAX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828133" y="3318867"/>
            <a:ext cx="1891501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Measures and KPI</a:t>
            </a:r>
            <a:endParaRPr lang="en-US" sz="1370" dirty="0"/>
          </a:p>
        </p:txBody>
      </p:sp>
      <p:sp>
        <p:nvSpPr>
          <p:cNvPr id="24" name="Text 22"/>
          <p:cNvSpPr/>
          <p:nvPr/>
        </p:nvSpPr>
        <p:spPr>
          <a:xfrm>
            <a:off x="4828133" y="3527375"/>
            <a:ext cx="1307589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calculations</a:t>
            </a:r>
            <a:endParaRPr lang="en-US" sz="1370" dirty="0"/>
          </a:p>
        </p:txBody>
      </p:sp>
      <p:sp>
        <p:nvSpPr>
          <p:cNvPr id="25" name="Shape 23"/>
          <p:cNvSpPr/>
          <p:nvPr/>
        </p:nvSpPr>
        <p:spPr>
          <a:xfrm>
            <a:off x="6733208" y="2161208"/>
            <a:ext cx="1952625" cy="2209800"/>
          </a:xfrm>
          <a:prstGeom prst="rect">
            <a:avLst/>
          </a:prstGeom>
          <a:solidFill>
            <a:srgbClr val="203D2B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6919838" y="2381176"/>
            <a:ext cx="563188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6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04</a:t>
            </a:r>
            <a:endParaRPr lang="en-US" sz="2160" dirty="0"/>
          </a:p>
        </p:txBody>
      </p:sp>
      <p:sp>
        <p:nvSpPr>
          <p:cNvPr id="27" name="Text 25"/>
          <p:cNvSpPr/>
          <p:nvPr/>
        </p:nvSpPr>
        <p:spPr>
          <a:xfrm>
            <a:off x="6919838" y="2942109"/>
            <a:ext cx="188279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80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Excel / CSV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919838" y="3318867"/>
            <a:ext cx="1320745" cy="2238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567"/>
              </a:spcBef>
              <a:buNone/>
            </a:pPr>
            <a:r>
              <a:rPr lang="en-US" sz="137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 data</a:t>
            </a:r>
            <a:endParaRPr lang="en-US" sz="1370" dirty="0"/>
          </a:p>
        </p:txBody>
      </p:sp>
      <p:sp>
        <p:nvSpPr>
          <p:cNvPr id="30" name="Text 28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3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3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8945" y="3690119"/>
            <a:ext cx="1581150" cy="4953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09432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 Modelling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154644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Create a suitable Power BI data model using species and park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information.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572" y="2528069"/>
            <a:ext cx="3181350" cy="5572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13395" y="2541538"/>
            <a:ext cx="241292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RELATIONSHIP KEYS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3395" y="2817168"/>
            <a:ext cx="270400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Code / Park Name</a:t>
            </a:r>
            <a:endParaRPr lang="en-US" sz="1510" dirty="0"/>
          </a:p>
        </p:txBody>
      </p:sp>
      <p:sp>
        <p:nvSpPr>
          <p:cNvPr id="13" name="Shape 11"/>
          <p:cNvSpPr/>
          <p:nvPr/>
        </p:nvSpPr>
        <p:spPr>
          <a:xfrm>
            <a:off x="457572" y="3215506"/>
            <a:ext cx="3181350" cy="5572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13395" y="3228975"/>
            <a:ext cx="185145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GRAIN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13395" y="3504605"/>
            <a:ext cx="3300011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ID where applicable</a:t>
            </a:r>
            <a:endParaRPr lang="en-US" sz="1510" dirty="0"/>
          </a:p>
        </p:txBody>
      </p:sp>
      <p:sp>
        <p:nvSpPr>
          <p:cNvPr id="16" name="Text 14"/>
          <p:cNvSpPr/>
          <p:nvPr/>
        </p:nvSpPr>
        <p:spPr>
          <a:xfrm>
            <a:off x="457200" y="3897362"/>
            <a:ext cx="392281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Relationships should reflect the level at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103117"/>
            <a:ext cx="284775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which each record is stored.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14180" y="2467942"/>
            <a:ext cx="4772025" cy="1905000"/>
          </a:xfrm>
          <a:prstGeom prst="rect">
            <a:avLst/>
          </a:prstGeom>
          <a:solidFill>
            <a:srgbClr val="E7E4D9"/>
          </a:solidFill>
          <a:ln w="9525">
            <a:solidFill>
              <a:srgbClr val="213C2B">
                <a:alpha val="30196"/>
              </a:srgbClr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197798" y="3014588"/>
            <a:ext cx="204787" cy="204787"/>
          </a:xfrm>
          <a:prstGeom prst="rect">
            <a:avLst/>
          </a:prstGeom>
          <a:ln w="9525">
            <a:solidFill>
              <a:srgbClr val="C98B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925467" y="3336950"/>
            <a:ext cx="363143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b="1" kern="0" spc="156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MODEL SCREENSHOT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42161" y="3630513"/>
            <a:ext cx="30679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with a verified project visual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572" y="2528069"/>
            <a:ext cx="3181350" cy="557213"/>
          </a:xfrm>
          <a:prstGeom prst="rect">
            <a:avLst/>
          </a:prstGeom>
        </p:spPr>
      </p:pic>
      <p:pic>
        <p:nvPicPr>
          <p:cNvPr id="2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572" y="3215506"/>
            <a:ext cx="3181350" cy="55721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3021C44-F39F-B976-3CB4-3B1F3B5A59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2953" y="2467941"/>
            <a:ext cx="5063252" cy="202093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9527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6702296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DAX &amp; KPI Development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978387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DAX measures for dashboard calculations. Do not insert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invented KPI values.</a:t>
            </a:r>
            <a:endParaRPr lang="en-US" sz="1510" dirty="0"/>
          </a:p>
        </p:txBody>
      </p:sp>
      <p:sp>
        <p:nvSpPr>
          <p:cNvPr id="11" name="Text 9"/>
          <p:cNvSpPr/>
          <p:nvPr/>
        </p:nvSpPr>
        <p:spPr>
          <a:xfrm>
            <a:off x="457200" y="2141847"/>
            <a:ext cx="58669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KPIS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91679" y="2400449"/>
            <a:ext cx="1528763" cy="68103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90562" y="2443014"/>
            <a:ext cx="1424062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20" b="1" kern="0" spc="-10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[value]</a:t>
            </a:r>
            <a:endParaRPr lang="en-US" sz="2520" dirty="0"/>
          </a:p>
        </p:txBody>
      </p:sp>
      <p:sp>
        <p:nvSpPr>
          <p:cNvPr id="14" name="Text 12"/>
          <p:cNvSpPr/>
          <p:nvPr/>
        </p:nvSpPr>
        <p:spPr>
          <a:xfrm>
            <a:off x="690562" y="2877145"/>
            <a:ext cx="170421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150" b="1" kern="0" spc="115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SPECIES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405509" y="2400449"/>
            <a:ext cx="1528763" cy="68103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404393" y="2443014"/>
            <a:ext cx="1424062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20" b="1" kern="0" spc="-10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[value]</a:t>
            </a:r>
            <a:endParaRPr lang="en-US" sz="2520" dirty="0"/>
          </a:p>
        </p:txBody>
      </p:sp>
      <p:sp>
        <p:nvSpPr>
          <p:cNvPr id="17" name="Text 15"/>
          <p:cNvSpPr/>
          <p:nvPr/>
        </p:nvSpPr>
        <p:spPr>
          <a:xfrm>
            <a:off x="2404393" y="2877145"/>
            <a:ext cx="18396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150" b="1" kern="0" spc="115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UNIQUE SPECIES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119376" y="2400449"/>
            <a:ext cx="1528763" cy="68103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118223" y="2443014"/>
            <a:ext cx="1424062" cy="3952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20" b="1" kern="0" spc="-10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[value]</a:t>
            </a:r>
            <a:endParaRPr lang="en-US" sz="2520" dirty="0"/>
          </a:p>
        </p:txBody>
      </p:sp>
      <p:sp>
        <p:nvSpPr>
          <p:cNvPr id="20" name="Text 18"/>
          <p:cNvSpPr/>
          <p:nvPr/>
        </p:nvSpPr>
        <p:spPr>
          <a:xfrm>
            <a:off x="4118223" y="2877145"/>
            <a:ext cx="13684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86"/>
              </a:spcBef>
              <a:buNone/>
            </a:pPr>
            <a:r>
              <a:rPr lang="en-US" sz="1150" b="1" kern="0" spc="115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PARK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91679" y="3288990"/>
            <a:ext cx="1528763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405509" y="3288990"/>
            <a:ext cx="1528763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4119376" y="3288990"/>
            <a:ext cx="1528763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6125453" y="1885063"/>
            <a:ext cx="2619375" cy="2628900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6294090" y="2181299"/>
            <a:ext cx="1568105" cy="566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DAX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6294090" y="2798299"/>
            <a:ext cx="2681273" cy="695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Measures keep KPI logic</a:t>
            </a:r>
            <a:endParaRPr lang="en-US" sz="144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reusable across pages</a:t>
            </a:r>
            <a:endParaRPr lang="en-US" sz="144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filters.</a:t>
            </a:r>
            <a:endParaRPr lang="en-US" sz="1440" dirty="0"/>
          </a:p>
        </p:txBody>
      </p:sp>
      <p:sp>
        <p:nvSpPr>
          <p:cNvPr id="33" name="Text 31"/>
          <p:cNvSpPr/>
          <p:nvPr/>
        </p:nvSpPr>
        <p:spPr>
          <a:xfrm>
            <a:off x="6294090" y="3781351"/>
            <a:ext cx="230737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620"/>
              </a:spcBef>
              <a:buNone/>
            </a:pPr>
            <a:r>
              <a:rPr lang="en-US" sz="1080" kern="0" spc="108" dirty="0">
                <a:solidFill>
                  <a:srgbClr val="C9D2C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VERIFIED VALUES ONLY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3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679" y="2400449"/>
            <a:ext cx="1528763" cy="681038"/>
          </a:xfrm>
          <a:prstGeom prst="rect">
            <a:avLst/>
          </a:prstGeom>
        </p:spPr>
      </p:pic>
      <p:pic>
        <p:nvPicPr>
          <p:cNvPr id="3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05509" y="2400449"/>
            <a:ext cx="1528763" cy="681038"/>
          </a:xfrm>
          <a:prstGeom prst="rect">
            <a:avLst/>
          </a:prstGeom>
        </p:spPr>
      </p:pic>
      <p:pic>
        <p:nvPicPr>
          <p:cNvPr id="3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19376" y="2400449"/>
            <a:ext cx="1528763" cy="681038"/>
          </a:xfrm>
          <a:prstGeom prst="rect">
            <a:avLst/>
          </a:prstGeom>
        </p:spPr>
      </p:pic>
      <p:pic>
        <p:nvPicPr>
          <p:cNvPr id="4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1679" y="3288990"/>
            <a:ext cx="1528763" cy="900113"/>
          </a:xfrm>
          <a:prstGeom prst="rect">
            <a:avLst/>
          </a:prstGeom>
        </p:spPr>
      </p:pic>
      <p:pic>
        <p:nvPicPr>
          <p:cNvPr id="4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05509" y="3288990"/>
            <a:ext cx="1528763" cy="900113"/>
          </a:xfrm>
          <a:prstGeom prst="rect">
            <a:avLst/>
          </a:prstGeom>
        </p:spPr>
      </p:pic>
      <p:pic>
        <p:nvPicPr>
          <p:cNvPr id="42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19376" y="3288990"/>
            <a:ext cx="1528763" cy="900113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95058" y="3690863"/>
            <a:ext cx="2162175" cy="28575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CEEA00A-43A2-7957-FFAE-E41D86C96BD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1575" y="2413948"/>
            <a:ext cx="5479503" cy="41915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5F276B9-664B-1FAE-391E-56445C452F8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29131" y="2562223"/>
            <a:ext cx="85737" cy="1905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C31CFB8-E883-FD0A-52E2-E705B1F7E1E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8308" y="2868770"/>
            <a:ext cx="5479503" cy="46679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CD73B56-2D73-76FF-BA3E-43F4C5221C5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9305" y="3389740"/>
            <a:ext cx="5501774" cy="4191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457088" y="866626"/>
            <a:ext cx="347663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486586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Dashboard Structure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387957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91"/>
              </a:spcBef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dashboard contains 3 pages.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8167" y="2433935"/>
            <a:ext cx="2619375" cy="1938337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90562" y="2600920"/>
            <a:ext cx="906609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32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4320" dirty="0"/>
          </a:p>
        </p:txBody>
      </p:sp>
      <p:sp>
        <p:nvSpPr>
          <p:cNvPr id="12" name="Text 10"/>
          <p:cNvSpPr/>
          <p:nvPr/>
        </p:nvSpPr>
        <p:spPr>
          <a:xfrm>
            <a:off x="690562" y="3399086"/>
            <a:ext cx="1746684" cy="703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Wildlife</a:t>
            </a:r>
            <a:endParaRPr lang="en-US" sz="2020" dirty="0"/>
          </a:p>
          <a:p>
            <a:pPr marL="0" indent="0" algn="l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Overview</a:t>
            </a:r>
            <a:endParaRPr lang="en-US" sz="2020" dirty="0"/>
          </a:p>
        </p:txBody>
      </p:sp>
      <p:sp>
        <p:nvSpPr>
          <p:cNvPr id="13" name="Shape 11"/>
          <p:cNvSpPr/>
          <p:nvPr/>
        </p:nvSpPr>
        <p:spPr>
          <a:xfrm>
            <a:off x="3262313" y="2433935"/>
            <a:ext cx="2619375" cy="1938337"/>
          </a:xfrm>
          <a:prstGeom prst="rect">
            <a:avLst/>
          </a:prstGeom>
          <a:solidFill>
            <a:srgbClr val="203D2B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494708" y="2600920"/>
            <a:ext cx="1059939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32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4320" dirty="0"/>
          </a:p>
        </p:txBody>
      </p:sp>
      <p:sp>
        <p:nvSpPr>
          <p:cNvPr id="15" name="Text 13"/>
          <p:cNvSpPr/>
          <p:nvPr/>
        </p:nvSpPr>
        <p:spPr>
          <a:xfrm>
            <a:off x="3494708" y="3399086"/>
            <a:ext cx="2351685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2020" b="1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Explore</a:t>
            </a:r>
            <a:endParaRPr lang="en-US" sz="2020" dirty="0"/>
          </a:p>
        </p:txBody>
      </p:sp>
      <p:sp>
        <p:nvSpPr>
          <p:cNvPr id="16" name="Shape 14"/>
          <p:cNvSpPr/>
          <p:nvPr/>
        </p:nvSpPr>
        <p:spPr>
          <a:xfrm>
            <a:off x="6066458" y="2433935"/>
            <a:ext cx="2619375" cy="1938337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298853" y="2600920"/>
            <a:ext cx="1049878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32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4320" dirty="0"/>
          </a:p>
        </p:txBody>
      </p:sp>
      <p:sp>
        <p:nvSpPr>
          <p:cNvPr id="18" name="Text 16"/>
          <p:cNvSpPr/>
          <p:nvPr/>
        </p:nvSpPr>
        <p:spPr>
          <a:xfrm>
            <a:off x="6298853" y="3399086"/>
            <a:ext cx="2411276" cy="703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Conservation</a:t>
            </a:r>
            <a:endParaRPr lang="en-US" sz="2020" dirty="0"/>
          </a:p>
          <a:p>
            <a:pPr marL="0" indent="0" algn="l">
              <a:lnSpc>
                <a:spcPts val="3024"/>
              </a:lnSpc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Analysis</a:t>
            </a:r>
            <a:endParaRPr lang="en-US" sz="2020" dirty="0"/>
          </a:p>
        </p:txBody>
      </p:sp>
      <p:sp>
        <p:nvSpPr>
          <p:cNvPr id="19" name="Text 1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457088" y="866626"/>
            <a:ext cx="347663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896020" y="785813"/>
            <a:ext cx="224691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20" b="1" kern="0" spc="220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01 / DASHBOARD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83457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Wildlife Overview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029368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high-level view of species composition, presence patterns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filters.</a:t>
            </a:r>
            <a:endParaRPr lang="en-US" sz="1510" dirty="0"/>
          </a:p>
        </p:txBody>
      </p:sp>
      <p:sp>
        <p:nvSpPr>
          <p:cNvPr id="11" name="Shape 9"/>
          <p:cNvSpPr/>
          <p:nvPr/>
        </p:nvSpPr>
        <p:spPr>
          <a:xfrm>
            <a:off x="598177" y="1889336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1969777" y="1889336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3341377" y="1889336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598177" y="3212418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5"/>
          <p:cNvSpPr/>
          <p:nvPr/>
        </p:nvSpPr>
        <p:spPr>
          <a:xfrm>
            <a:off x="1969777" y="3210223"/>
            <a:ext cx="952500" cy="11239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341377" y="3212418"/>
            <a:ext cx="952500" cy="900113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709145" y="2148483"/>
            <a:ext cx="233349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by Category</a:t>
            </a:r>
            <a:endParaRPr lang="en-US" sz="1440" dirty="0"/>
          </a:p>
        </p:txBody>
      </p:sp>
      <p:sp>
        <p:nvSpPr>
          <p:cNvPr id="35" name="Text 33"/>
          <p:cNvSpPr/>
          <p:nvPr/>
        </p:nvSpPr>
        <p:spPr>
          <a:xfrm>
            <a:off x="4709145" y="2612306"/>
            <a:ext cx="258763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by Seasonality</a:t>
            </a:r>
            <a:endParaRPr lang="en-US" sz="1440" dirty="0"/>
          </a:p>
        </p:txBody>
      </p:sp>
      <p:sp>
        <p:nvSpPr>
          <p:cNvPr id="36" name="Text 34"/>
          <p:cNvSpPr/>
          <p:nvPr/>
        </p:nvSpPr>
        <p:spPr>
          <a:xfrm>
            <a:off x="4709145" y="3076129"/>
            <a:ext cx="331394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Native vs Non-Native Species</a:t>
            </a:r>
            <a:endParaRPr lang="en-US" sz="1440" dirty="0"/>
          </a:p>
        </p:txBody>
      </p:sp>
      <p:sp>
        <p:nvSpPr>
          <p:cNvPr id="37" name="Text 35"/>
          <p:cNvSpPr/>
          <p:nvPr/>
        </p:nvSpPr>
        <p:spPr>
          <a:xfrm>
            <a:off x="4709145" y="3539951"/>
            <a:ext cx="280151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Abundance · Occurrence</a:t>
            </a:r>
            <a:endParaRPr lang="en-US" sz="1440" dirty="0"/>
          </a:p>
        </p:txBody>
      </p:sp>
      <p:sp>
        <p:nvSpPr>
          <p:cNvPr id="38" name="Text 36"/>
          <p:cNvSpPr/>
          <p:nvPr/>
        </p:nvSpPr>
        <p:spPr>
          <a:xfrm>
            <a:off x="4709145" y="3968576"/>
            <a:ext cx="359699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150" kern="0" spc="138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FILTERS: CATEGORY · PARK NAME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4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177" y="3212418"/>
            <a:ext cx="952500" cy="900113"/>
          </a:xfrm>
          <a:prstGeom prst="rect">
            <a:avLst/>
          </a:prstGeom>
        </p:spPr>
      </p:pic>
      <p:pic>
        <p:nvPicPr>
          <p:cNvPr id="46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69777" y="3210223"/>
            <a:ext cx="952500" cy="1123950"/>
          </a:xfrm>
          <a:prstGeom prst="rect">
            <a:avLst/>
          </a:prstGeom>
        </p:spPr>
      </p:pic>
      <p:pic>
        <p:nvPicPr>
          <p:cNvPr id="47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41377" y="3212418"/>
            <a:ext cx="952500" cy="900113"/>
          </a:xfrm>
          <a:prstGeom prst="rect">
            <a:avLst/>
          </a:prstGeom>
        </p:spPr>
      </p:pic>
      <p:pic>
        <p:nvPicPr>
          <p:cNvPr id="48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09629" y="2047094"/>
            <a:ext cx="3976687" cy="361950"/>
          </a:xfrm>
          <a:prstGeom prst="rect">
            <a:avLst/>
          </a:prstGeom>
        </p:spPr>
      </p:pic>
      <p:pic>
        <p:nvPicPr>
          <p:cNvPr id="4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709629" y="2510917"/>
            <a:ext cx="3976687" cy="361950"/>
          </a:xfrm>
          <a:prstGeom prst="rect">
            <a:avLst/>
          </a:prstGeom>
        </p:spPr>
      </p:pic>
      <p:pic>
        <p:nvPicPr>
          <p:cNvPr id="50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09629" y="2974739"/>
            <a:ext cx="3976687" cy="361950"/>
          </a:xfrm>
          <a:prstGeom prst="rect">
            <a:avLst/>
          </a:prstGeom>
        </p:spPr>
      </p:pic>
      <p:pic>
        <p:nvPicPr>
          <p:cNvPr id="51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09629" y="3438562"/>
            <a:ext cx="3976687" cy="3619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DD248B-969C-FC2B-1790-F4EA7D0AA12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9767" y="2201037"/>
            <a:ext cx="4402233" cy="24458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3338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208463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Species by Category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390976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Shows the distribution of species across wildlife categories and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helps understand biodiversity composition.</a:t>
            </a:r>
            <a:endParaRPr lang="en-US" sz="1510" dirty="0"/>
          </a:p>
        </p:txBody>
      </p:sp>
      <p:sp>
        <p:nvSpPr>
          <p:cNvPr id="10" name="Text 8"/>
          <p:cNvSpPr/>
          <p:nvPr/>
        </p:nvSpPr>
        <p:spPr>
          <a:xfrm>
            <a:off x="457200" y="2671018"/>
            <a:ext cx="25602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READING THE VISUAL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2964731"/>
            <a:ext cx="393529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category volume, then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457200" y="3206055"/>
            <a:ext cx="356081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filters to isolate a park or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457200" y="3447380"/>
            <a:ext cx="116296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category.</a:t>
            </a:r>
            <a:endParaRPr lang="en-US" sz="1580" dirty="0"/>
          </a:p>
        </p:txBody>
      </p:sp>
      <p:sp>
        <p:nvSpPr>
          <p:cNvPr id="15" name="Shape 13"/>
          <p:cNvSpPr/>
          <p:nvPr/>
        </p:nvSpPr>
        <p:spPr>
          <a:xfrm>
            <a:off x="3914180" y="2469914"/>
            <a:ext cx="4772025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101182" y="3834036"/>
            <a:ext cx="5283339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 WITH DATASET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VALUES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572" y="3907892"/>
            <a:ext cx="3181350" cy="328613"/>
          </a:xfrm>
          <a:prstGeom prst="rect">
            <a:avLst/>
          </a:prstGeom>
        </p:spPr>
      </p:pic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4180" y="2469914"/>
            <a:ext cx="4772025" cy="19526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11A072-26EF-9F81-F465-A5EFB6E41E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180" y="2469914"/>
            <a:ext cx="4492065" cy="19526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78928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Species by Seasonality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691655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Shows how species are distributed according to seasonal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patterns and helps identify seasonal wildlife trends.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200" y="2469914"/>
            <a:ext cx="4972050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94606" y="2926742"/>
            <a:ext cx="457200" cy="1081087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035427" y="4068291"/>
            <a:ext cx="17555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1805732" y="3235821"/>
            <a:ext cx="457200" cy="771525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1951970" y="4068291"/>
            <a:ext cx="16472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2716857" y="2721471"/>
            <a:ext cx="457200" cy="1285875"/>
          </a:xfrm>
          <a:prstGeom prst="rect">
            <a:avLst/>
          </a:prstGeom>
          <a:solidFill>
            <a:srgbClr val="7E927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852938" y="4068291"/>
            <a:ext cx="18503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3627983" y="3492996"/>
            <a:ext cx="457200" cy="514350"/>
          </a:xfrm>
          <a:prstGeom prst="rect">
            <a:avLst/>
          </a:prstGeom>
          <a:solidFill>
            <a:srgbClr val="B0B7A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3766676" y="4068291"/>
            <a:ext cx="179814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539109" y="3082491"/>
            <a:ext cx="457200" cy="923925"/>
          </a:xfrm>
          <a:prstGeom prst="rect">
            <a:avLst/>
          </a:prstGeom>
          <a:solidFill>
            <a:srgbClr val="1F3D2B">
              <a:alpha val="70196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688733" y="4068291"/>
            <a:ext cx="15795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5703540" y="2550319"/>
            <a:ext cx="25602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READING THE VISUAL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703540" y="2844031"/>
            <a:ext cx="306996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Seasonality groups make</a:t>
            </a:r>
            <a:endParaRPr lang="en-US" sz="1580" dirty="0"/>
          </a:p>
        </p:txBody>
      </p:sp>
      <p:sp>
        <p:nvSpPr>
          <p:cNvPr id="23" name="Text 21"/>
          <p:cNvSpPr/>
          <p:nvPr/>
        </p:nvSpPr>
        <p:spPr>
          <a:xfrm>
            <a:off x="5703540" y="3085356"/>
            <a:ext cx="308360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patterns visible</a:t>
            </a:r>
            <a:endParaRPr lang="en-US" sz="1580" dirty="0"/>
          </a:p>
        </p:txBody>
      </p:sp>
      <p:sp>
        <p:nvSpPr>
          <p:cNvPr id="24" name="Text 22"/>
          <p:cNvSpPr/>
          <p:nvPr/>
        </p:nvSpPr>
        <p:spPr>
          <a:xfrm>
            <a:off x="5703540" y="3326681"/>
            <a:ext cx="3355248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without scanning individual</a:t>
            </a:r>
            <a:endParaRPr lang="en-US" sz="1580" dirty="0"/>
          </a:p>
        </p:txBody>
      </p:sp>
      <p:sp>
        <p:nvSpPr>
          <p:cNvPr id="25" name="Text 23"/>
          <p:cNvSpPr/>
          <p:nvPr/>
        </p:nvSpPr>
        <p:spPr>
          <a:xfrm>
            <a:off x="5703540" y="3568005"/>
            <a:ext cx="104088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records.</a:t>
            </a:r>
            <a:endParaRPr lang="en-US" sz="1580" dirty="0"/>
          </a:p>
        </p:txBody>
      </p:sp>
      <p:sp>
        <p:nvSpPr>
          <p:cNvPr id="27" name="Text 25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3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2469914"/>
            <a:ext cx="4972050" cy="1952625"/>
          </a:xfrm>
          <a:prstGeom prst="rect">
            <a:avLst/>
          </a:prstGeom>
        </p:spPr>
      </p:pic>
      <p:pic>
        <p:nvPicPr>
          <p:cNvPr id="3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04508" y="4028517"/>
            <a:ext cx="2981325" cy="3286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491CC1-2ADF-BA64-C69E-D957C5EC85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257" y="2469914"/>
            <a:ext cx="4401852" cy="18872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7566653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Native vs Non-Native Species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52265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Compares native and non-native species to understand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composition and nativeness.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684" y="2519437"/>
            <a:ext cx="3976687" cy="1905000"/>
          </a:xfrm>
          <a:prstGeom prst="rect">
            <a:avLst/>
          </a:prstGeom>
          <a:solidFill>
            <a:srgbClr val="E7E4D9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1750665" y="2776612"/>
            <a:ext cx="1390650" cy="1390650"/>
          </a:xfrm>
          <a:prstGeom prst="ellipse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708178" y="2772519"/>
            <a:ext cx="104775" cy="104775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903366" y="2661493"/>
            <a:ext cx="2579988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Native Species</a:t>
            </a:r>
            <a:endParaRPr lang="en-US" sz="2020" dirty="0"/>
          </a:p>
        </p:txBody>
      </p:sp>
      <p:sp>
        <p:nvSpPr>
          <p:cNvPr id="16" name="Shape 14"/>
          <p:cNvSpPr/>
          <p:nvPr/>
        </p:nvSpPr>
        <p:spPr>
          <a:xfrm>
            <a:off x="4708178" y="3310830"/>
            <a:ext cx="104775" cy="104775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903366" y="3199805"/>
            <a:ext cx="3492810" cy="3190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0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Non-Native Species</a:t>
            </a:r>
            <a:endParaRPr lang="en-US" sz="2020" dirty="0"/>
          </a:p>
        </p:txBody>
      </p:sp>
      <p:sp>
        <p:nvSpPr>
          <p:cNvPr id="19" name="Text 1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629" y="3710211"/>
            <a:ext cx="3976687" cy="60007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E5B5202-553A-C46B-0BEE-1B80E60D61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7237" y="2505065"/>
            <a:ext cx="9526" cy="1333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A764A4-D543-6078-62D6-F35AB57A80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84" y="2519437"/>
            <a:ext cx="4019139" cy="1905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02" y="10622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686442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Abundance &amp; Occurrence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315133" cy="727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Abundance represents the recorded level of species presence.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Occurrence represents the frequency/pattern of species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64984" y="2342720"/>
            <a:ext cx="4024312" cy="2176462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446586"/>
            <a:ext cx="1507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ABUNDANCE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4835" y="2753618"/>
            <a:ext cx="3648075" cy="113347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32396" y="3296692"/>
            <a:ext cx="3748006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DATASET VALUES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644798" y="4003253"/>
            <a:ext cx="357310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level of species presence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76857" y="2342720"/>
            <a:ext cx="4024312" cy="2176462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850978" y="2446586"/>
            <a:ext cx="16618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OCCURRENCE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51053" y="2753618"/>
            <a:ext cx="3648075" cy="113347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5038576" y="3296692"/>
            <a:ext cx="3748006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DATASET VALUES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4850978" y="4003253"/>
            <a:ext cx="3941192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Frequency / pattern of species records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3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835" y="2753618"/>
            <a:ext cx="3648075" cy="1133475"/>
          </a:xfrm>
          <a:prstGeom prst="rect">
            <a:avLst/>
          </a:prstGeom>
        </p:spPr>
      </p:pic>
      <p:pic>
        <p:nvPicPr>
          <p:cNvPr id="4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851053" y="2753618"/>
            <a:ext cx="3648075" cy="11334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964B96-87D3-92D7-2C43-BCDAAD63B4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812" y="2696707"/>
            <a:ext cx="3573102" cy="13065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D2BEF17-8E52-0BE0-2E61-5F95E26BEF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1052" y="2687181"/>
            <a:ext cx="3632135" cy="12258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3456243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Explore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958749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parks using state, park name, park area and species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distribution.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6530" y="242716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94866" y="2351484"/>
            <a:ext cx="150638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by State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456530" y="2775198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94866" y="2699519"/>
            <a:ext cx="1095442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Area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456530" y="3123233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94866" y="3047554"/>
            <a:ext cx="3069580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Area vs Species Count</a:t>
            </a:r>
            <a:endParaRPr lang="en-US" sz="1440" dirty="0"/>
          </a:p>
        </p:txBody>
      </p:sp>
      <p:sp>
        <p:nvSpPr>
          <p:cNvPr id="16" name="Shape 14"/>
          <p:cNvSpPr/>
          <p:nvPr/>
        </p:nvSpPr>
        <p:spPr>
          <a:xfrm>
            <a:off x="456530" y="3471267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594866" y="3395588"/>
            <a:ext cx="179350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Species by Park</a:t>
            </a:r>
            <a:endParaRPr lang="en-US" sz="1440" dirty="0"/>
          </a:p>
        </p:txBody>
      </p:sp>
      <p:sp>
        <p:nvSpPr>
          <p:cNvPr id="18" name="Shape 16"/>
          <p:cNvSpPr/>
          <p:nvPr/>
        </p:nvSpPr>
        <p:spPr>
          <a:xfrm>
            <a:off x="456530" y="3819302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94866" y="3743623"/>
            <a:ext cx="387395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Category Distribution Across Parks</a:t>
            </a: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457200" y="4218310"/>
            <a:ext cx="3084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150" kern="0" spc="138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FILTERS: STATE · PARK NAME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09629" y="2360526"/>
            <a:ext cx="3976687" cy="1852612"/>
          </a:xfrm>
          <a:prstGeom prst="rect">
            <a:avLst/>
          </a:prstGeom>
          <a:solidFill>
            <a:srgbClr val="E7E4D9"/>
          </a:solidFill>
          <a:ln w="9525">
            <a:solidFill>
              <a:srgbClr val="213C2B">
                <a:alpha val="30196"/>
              </a:srgbClr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595542" y="2881015"/>
            <a:ext cx="204787" cy="204787"/>
          </a:xfrm>
          <a:prstGeom prst="rect">
            <a:avLst/>
          </a:prstGeom>
          <a:ln w="9525">
            <a:solidFill>
              <a:srgbClr val="C98B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5324401" y="3203377"/>
            <a:ext cx="362834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b="1" kern="0" spc="156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PAGE 2 SCREENSHOT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39978" y="3496940"/>
            <a:ext cx="30679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with a verified project visual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64D3CFF-A293-831B-034C-D802A58B3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9389" y="2128881"/>
            <a:ext cx="5064056" cy="227992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3385624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by State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628932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91"/>
              </a:spcBef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Shows the distribution of national parks across states.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6530" y="2469914"/>
            <a:ext cx="4376738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4798" y="3834036"/>
            <a:ext cx="4338206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 WITH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DATASET VALUES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5106888" y="2671018"/>
            <a:ext cx="20461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ANALYTICAL USE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106888" y="2964731"/>
            <a:ext cx="4689946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park representation by state</a:t>
            </a:r>
            <a:endParaRPr lang="en-US" sz="1580" dirty="0"/>
          </a:p>
        </p:txBody>
      </p:sp>
      <p:sp>
        <p:nvSpPr>
          <p:cNvPr id="22" name="Text 20"/>
          <p:cNvSpPr/>
          <p:nvPr/>
        </p:nvSpPr>
        <p:spPr>
          <a:xfrm>
            <a:off x="5106888" y="3206055"/>
            <a:ext cx="400852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then drill into individual park</a:t>
            </a:r>
            <a:endParaRPr lang="en-US" sz="1580" dirty="0"/>
          </a:p>
        </p:txBody>
      </p:sp>
      <p:sp>
        <p:nvSpPr>
          <p:cNvPr id="23" name="Text 21"/>
          <p:cNvSpPr/>
          <p:nvPr/>
        </p:nvSpPr>
        <p:spPr>
          <a:xfrm>
            <a:off x="5106888" y="3447380"/>
            <a:ext cx="104088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records.</a:t>
            </a:r>
            <a:endParaRPr lang="en-US" sz="1580" dirty="0"/>
          </a:p>
        </p:txBody>
      </p:sp>
      <p:sp>
        <p:nvSpPr>
          <p:cNvPr id="25" name="Text 23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6530" y="2469914"/>
            <a:ext cx="4376738" cy="1952625"/>
          </a:xfrm>
          <a:prstGeom prst="rect">
            <a:avLst/>
          </a:prstGeom>
        </p:spPr>
      </p:pic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06144" y="3907892"/>
            <a:ext cx="3581400" cy="32861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13E5FDB-C5B1-B313-CD05-EB6B4CCA3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658" y="2455627"/>
            <a:ext cx="4050342" cy="18744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2575828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Area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40500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park area as a comparison field for understanding the scale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protected spaces.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684" y="2132112"/>
            <a:ext cx="5424487" cy="2290762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4798" y="2333402"/>
            <a:ext cx="308844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AREA DISTRIBUTION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5802" y="2692822"/>
            <a:ext cx="5048250" cy="15430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6066458" y="3057711"/>
            <a:ext cx="2619375" cy="1366837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6294090" y="3239765"/>
            <a:ext cx="1458888" cy="4524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8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[area]</a:t>
            </a:r>
            <a:endParaRPr lang="en-US" sz="2880" dirty="0"/>
          </a:p>
        </p:txBody>
      </p:sp>
      <p:sp>
        <p:nvSpPr>
          <p:cNvPr id="24" name="Text 22"/>
          <p:cNvSpPr/>
          <p:nvPr/>
        </p:nvSpPr>
        <p:spPr>
          <a:xfrm>
            <a:off x="6294090" y="3746450"/>
            <a:ext cx="252910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verified unit and</a:t>
            </a:r>
            <a:endParaRPr lang="en-US" sz="1440" dirty="0"/>
          </a:p>
        </p:txBody>
      </p:sp>
      <p:sp>
        <p:nvSpPr>
          <p:cNvPr id="25" name="Text 23"/>
          <p:cNvSpPr/>
          <p:nvPr/>
        </p:nvSpPr>
        <p:spPr>
          <a:xfrm>
            <a:off x="6294090" y="3965897"/>
            <a:ext cx="2633194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range from the dataset.</a:t>
            </a:r>
            <a:endParaRPr lang="en-US" sz="1440" dirty="0"/>
          </a:p>
        </p:txBody>
      </p:sp>
      <p:sp>
        <p:nvSpPr>
          <p:cNvPr id="26" name="Text 24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5802" y="2692822"/>
            <a:ext cx="5048250" cy="1543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BC13B2-5991-CA10-190F-E659A313A8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798" y="2619599"/>
            <a:ext cx="5048249" cy="170301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7010407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 Area vs Species Count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02211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Study the relationship between park area and species count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without assuming a causal relationship.</a:t>
            </a:r>
            <a:endParaRPr lang="en-US" sz="1510" dirty="0"/>
          </a:p>
        </p:txBody>
      </p:sp>
      <p:sp>
        <p:nvSpPr>
          <p:cNvPr id="11" name="Shape 9"/>
          <p:cNvSpPr/>
          <p:nvPr/>
        </p:nvSpPr>
        <p:spPr>
          <a:xfrm>
            <a:off x="827336" y="2575657"/>
            <a:ext cx="4124325" cy="163830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351517" y="4266926"/>
            <a:ext cx="112465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08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 AREA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5504631" y="2577703"/>
            <a:ext cx="203922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INTERPRETATION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04631" y="2876178"/>
            <a:ext cx="313903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scatter view helps reveal</a:t>
            </a:r>
            <a:endParaRPr lang="en-US" sz="1510" dirty="0"/>
          </a:p>
        </p:txBody>
      </p:sp>
      <p:sp>
        <p:nvSpPr>
          <p:cNvPr id="20" name="Text 18"/>
          <p:cNvSpPr/>
          <p:nvPr/>
        </p:nvSpPr>
        <p:spPr>
          <a:xfrm>
            <a:off x="5504631" y="3106564"/>
            <a:ext cx="41421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concentration, spread and possible</a:t>
            </a:r>
            <a:endParaRPr lang="en-US" sz="1510" dirty="0"/>
          </a:p>
        </p:txBody>
      </p:sp>
      <p:sp>
        <p:nvSpPr>
          <p:cNvPr id="21" name="Text 19"/>
          <p:cNvSpPr/>
          <p:nvPr/>
        </p:nvSpPr>
        <p:spPr>
          <a:xfrm>
            <a:off x="5504631" y="3336950"/>
            <a:ext cx="97045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outliers.</a:t>
            </a:r>
            <a:endParaRPr lang="en-US" sz="1510" dirty="0"/>
          </a:p>
        </p:txBody>
      </p:sp>
      <p:sp>
        <p:nvSpPr>
          <p:cNvPr id="23" name="Text 21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7336" y="2575657"/>
            <a:ext cx="4124325" cy="1638300"/>
          </a:xfrm>
          <a:prstGeom prst="rect">
            <a:avLst/>
          </a:prstGeom>
        </p:spPr>
      </p:pic>
      <p:pic>
        <p:nvPicPr>
          <p:cNvPr id="2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05041" y="3730526"/>
            <a:ext cx="3181350" cy="5476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E549A2-C512-1222-59DB-F719D2F40F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336" y="2436712"/>
            <a:ext cx="3671928" cy="180047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405901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Species by Park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791489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species records across parks and identify where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composition differs.</a:t>
            </a:r>
            <a:endParaRPr lang="en-US" sz="1510" dirty="0"/>
          </a:p>
        </p:txBody>
      </p:sp>
      <p:sp>
        <p:nvSpPr>
          <p:cNvPr id="10" name="Text 8"/>
          <p:cNvSpPr/>
          <p:nvPr/>
        </p:nvSpPr>
        <p:spPr>
          <a:xfrm>
            <a:off x="457200" y="2546077"/>
            <a:ext cx="2266556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320" b="1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PARK</a:t>
            </a:r>
            <a:endParaRPr lang="en-US" sz="4320" dirty="0"/>
          </a:p>
        </p:txBody>
      </p:sp>
      <p:sp>
        <p:nvSpPr>
          <p:cNvPr id="11" name="Text 9"/>
          <p:cNvSpPr/>
          <p:nvPr/>
        </p:nvSpPr>
        <p:spPr>
          <a:xfrm>
            <a:off x="457200" y="3249960"/>
            <a:ext cx="368348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same species lens can be</a:t>
            </a:r>
            <a:endParaRPr lang="en-US" sz="1580" dirty="0"/>
          </a:p>
        </p:txBody>
      </p:sp>
      <p:sp>
        <p:nvSpPr>
          <p:cNvPr id="12" name="Text 10"/>
          <p:cNvSpPr/>
          <p:nvPr/>
        </p:nvSpPr>
        <p:spPr>
          <a:xfrm>
            <a:off x="457200" y="3491285"/>
            <a:ext cx="258840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applied park by park.</a:t>
            </a:r>
            <a:endParaRPr lang="en-US" sz="1580" dirty="0"/>
          </a:p>
        </p:txBody>
      </p:sp>
      <p:sp>
        <p:nvSpPr>
          <p:cNvPr id="14" name="Shape 12"/>
          <p:cNvSpPr/>
          <p:nvPr/>
        </p:nvSpPr>
        <p:spPr>
          <a:xfrm>
            <a:off x="3714713" y="2469914"/>
            <a:ext cx="4972050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902273" y="3219896"/>
            <a:ext cx="864915" cy="4099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28"/>
              </a:lnSpc>
              <a:buNone/>
            </a:pP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902273" y="3834036"/>
            <a:ext cx="5283339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 WITH DATASET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VALUES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8130" y="3951796"/>
            <a:ext cx="2981325" cy="328613"/>
          </a:xfrm>
          <a:prstGeom prst="rect">
            <a:avLst/>
          </a:prstGeom>
        </p:spPr>
      </p:pic>
      <p:pic>
        <p:nvPicPr>
          <p:cNvPr id="2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13" y="2469914"/>
            <a:ext cx="4972050" cy="1952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C57141-1CD5-E07B-1F28-840DA723BE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89" y="2490823"/>
            <a:ext cx="4532520" cy="178958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6" name="Shape 4"/>
          <p:cNvSpPr/>
          <p:nvPr/>
        </p:nvSpPr>
        <p:spPr>
          <a:xfrm>
            <a:off x="457088" y="866626"/>
            <a:ext cx="347663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905352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Category Distribution Across Parks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964167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category mix to see how biodiversity composition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changes by park.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684" y="2469914"/>
            <a:ext cx="3976687" cy="1952625"/>
          </a:xfrm>
          <a:prstGeom prst="rect">
            <a:avLst/>
          </a:prstGeom>
          <a:solidFill>
            <a:srgbClr val="E7E4D9"/>
          </a:solidFill>
          <a:ln w="9525">
            <a:solidFill>
              <a:srgbClr val="213C2B">
                <a:alpha val="30196"/>
              </a:srgbClr>
            </a:solidFill>
            <a:prstDash val="dash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2343596" y="3040410"/>
            <a:ext cx="204787" cy="204787"/>
          </a:xfrm>
          <a:prstGeom prst="rect">
            <a:avLst/>
          </a:prstGeom>
          <a:ln w="9525">
            <a:solidFill>
              <a:srgbClr val="C98B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724495" y="3362771"/>
            <a:ext cx="4533134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300" b="1" kern="0" spc="156" dirty="0">
                <a:solidFill>
                  <a:srgbClr val="203D2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CATEGORY-BY-PARK CHART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88033" y="3656335"/>
            <a:ext cx="30679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405"/>
              </a:spcBef>
              <a:buNone/>
            </a:pPr>
            <a:r>
              <a:rPr lang="en-US" sz="108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with a verified project visual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4708475" y="2775347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846811" y="2699668"/>
            <a:ext cx="320723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category presence</a:t>
            </a:r>
            <a:endParaRPr lang="en-US" sz="1440" dirty="0"/>
          </a:p>
        </p:txBody>
      </p:sp>
      <p:sp>
        <p:nvSpPr>
          <p:cNvPr id="16" name="Shape 14"/>
          <p:cNvSpPr/>
          <p:nvPr/>
        </p:nvSpPr>
        <p:spPr>
          <a:xfrm>
            <a:off x="4708475" y="3123381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846811" y="3047702"/>
            <a:ext cx="3355538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Spot concentrated categories</a:t>
            </a:r>
            <a:endParaRPr lang="en-US" sz="1440" dirty="0"/>
          </a:p>
        </p:txBody>
      </p:sp>
      <p:sp>
        <p:nvSpPr>
          <p:cNvPr id="18" name="Shape 16"/>
          <p:cNvSpPr/>
          <p:nvPr/>
        </p:nvSpPr>
        <p:spPr>
          <a:xfrm>
            <a:off x="4708475" y="3471416"/>
            <a:ext cx="47625" cy="47625"/>
          </a:xfrm>
          <a:prstGeom prst="ellipse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4846811" y="3395737"/>
            <a:ext cx="2797746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park and state filters</a:t>
            </a:r>
            <a:endParaRPr lang="en-US" sz="1440" dirty="0"/>
          </a:p>
        </p:txBody>
      </p:sp>
      <p:sp>
        <p:nvSpPr>
          <p:cNvPr id="21" name="Text 19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629" y="3855355"/>
            <a:ext cx="3976687" cy="32861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9106DEC-9C77-A8E8-BDA8-D40ECF6EC3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944" y="2128881"/>
            <a:ext cx="4312228" cy="24432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457200" y="1217414"/>
            <a:ext cx="5393234" cy="7905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5040" b="1" kern="0" spc="-277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Conservation</a:t>
            </a:r>
            <a:endParaRPr lang="en-US" sz="5040" dirty="0"/>
          </a:p>
        </p:txBody>
      </p:sp>
      <p:sp>
        <p:nvSpPr>
          <p:cNvPr id="8" name="Text 6"/>
          <p:cNvSpPr/>
          <p:nvPr/>
        </p:nvSpPr>
        <p:spPr>
          <a:xfrm>
            <a:off x="457200" y="1793453"/>
            <a:ext cx="3330000" cy="7905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5040" b="1" kern="0" spc="-277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Analysis</a:t>
            </a:r>
            <a:endParaRPr lang="en-US" sz="5040" dirty="0"/>
          </a:p>
        </p:txBody>
      </p:sp>
      <p:sp>
        <p:nvSpPr>
          <p:cNvPr id="9" name="Text 7"/>
          <p:cNvSpPr/>
          <p:nvPr/>
        </p:nvSpPr>
        <p:spPr>
          <a:xfrm>
            <a:off x="457200" y="2670423"/>
            <a:ext cx="570289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620"/>
              </a:spcBef>
              <a:buNone/>
            </a:pPr>
            <a:r>
              <a:rPr lang="en-US" sz="17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status labels to rare species, the final</a:t>
            </a:r>
            <a:endParaRPr lang="en-US" sz="1730" dirty="0"/>
          </a:p>
        </p:txBody>
      </p:sp>
      <p:sp>
        <p:nvSpPr>
          <p:cNvPr id="10" name="Text 8"/>
          <p:cNvSpPr/>
          <p:nvPr/>
        </p:nvSpPr>
        <p:spPr>
          <a:xfrm>
            <a:off x="457200" y="2933700"/>
            <a:ext cx="501169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620"/>
              </a:spcBef>
              <a:buNone/>
            </a:pPr>
            <a:r>
              <a:rPr lang="en-US" sz="17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 page focuses attention on</a:t>
            </a:r>
            <a:endParaRPr lang="en-US" sz="1730" dirty="0"/>
          </a:p>
        </p:txBody>
      </p:sp>
      <p:sp>
        <p:nvSpPr>
          <p:cNvPr id="11" name="Text 9"/>
          <p:cNvSpPr/>
          <p:nvPr/>
        </p:nvSpPr>
        <p:spPr>
          <a:xfrm>
            <a:off x="457200" y="3196977"/>
            <a:ext cx="291683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620"/>
              </a:spcBef>
              <a:buNone/>
            </a:pPr>
            <a:r>
              <a:rPr lang="en-US" sz="17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conservation context.</a:t>
            </a:r>
            <a:endParaRPr lang="en-US" sz="1730" dirty="0"/>
          </a:p>
        </p:txBody>
      </p:sp>
      <p:sp>
        <p:nvSpPr>
          <p:cNvPr id="14" name="Text 12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295EC0-349A-6CEE-F2FB-0AC359E6EC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4067" y="2209800"/>
            <a:ext cx="3252178" cy="187322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5221330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Conservation Status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018550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Analyze how species records are distributed across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conservation status categories.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6530" y="2469914"/>
            <a:ext cx="4376738" cy="1952625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44798" y="3834036"/>
            <a:ext cx="4338206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 STRUCTURE · REPLACE WITH</a:t>
            </a:r>
            <a:endParaRPr lang="en-US" sz="1080" dirty="0"/>
          </a:p>
          <a:p>
            <a:pPr marL="0" indent="0" algn="l">
              <a:lnSpc>
                <a:spcPts val="1620"/>
              </a:lnSpc>
              <a:buNone/>
            </a:pPr>
            <a:r>
              <a:rPr lang="en-US" sz="1080" kern="0" spc="13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DATASET VALUES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5106888" y="2671018"/>
            <a:ext cx="211332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THE VIEW TO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106888" y="2964731"/>
            <a:ext cx="4483023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Compare status categories and filter</a:t>
            </a:r>
            <a:endParaRPr lang="en-US" sz="1580" dirty="0"/>
          </a:p>
        </p:txBody>
      </p:sp>
      <p:sp>
        <p:nvSpPr>
          <p:cNvPr id="22" name="Text 20"/>
          <p:cNvSpPr/>
          <p:nvPr/>
        </p:nvSpPr>
        <p:spPr>
          <a:xfrm>
            <a:off x="5106888" y="3206055"/>
            <a:ext cx="4240113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result by park, state or species</a:t>
            </a:r>
            <a:endParaRPr lang="en-US" sz="1580" dirty="0"/>
          </a:p>
        </p:txBody>
      </p:sp>
      <p:sp>
        <p:nvSpPr>
          <p:cNvPr id="23" name="Text 21"/>
          <p:cNvSpPr/>
          <p:nvPr/>
        </p:nvSpPr>
        <p:spPr>
          <a:xfrm>
            <a:off x="5106888" y="3447380"/>
            <a:ext cx="116296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8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category.</a:t>
            </a:r>
            <a:endParaRPr lang="en-US" sz="1580" dirty="0"/>
          </a:p>
        </p:txBody>
      </p:sp>
      <p:sp>
        <p:nvSpPr>
          <p:cNvPr id="25" name="Text 23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6530" y="2469914"/>
            <a:ext cx="4376738" cy="1952625"/>
          </a:xfrm>
          <a:prstGeom prst="rect">
            <a:avLst/>
          </a:prstGeom>
        </p:spPr>
      </p:pic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06144" y="3907892"/>
            <a:ext cx="3581400" cy="32861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05B307-5129-92A7-FF36-18BF438528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658" y="2552830"/>
            <a:ext cx="3646647" cy="166786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391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7053166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Rare &amp; Threatened Species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36588"/>
            <a:ext cx="651123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91"/>
              </a:spcBef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rare and threatened species for focused review.</a:t>
            </a:r>
            <a:endParaRPr lang="en-US" sz="1510" dirty="0"/>
          </a:p>
        </p:txBody>
      </p:sp>
      <p:sp>
        <p:nvSpPr>
          <p:cNvPr id="11" name="Text 9"/>
          <p:cNvSpPr/>
          <p:nvPr/>
        </p:nvSpPr>
        <p:spPr>
          <a:xfrm>
            <a:off x="736253" y="2767905"/>
            <a:ext cx="2341431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4320" dirty="0"/>
          </a:p>
        </p:txBody>
      </p:sp>
      <p:sp>
        <p:nvSpPr>
          <p:cNvPr id="15" name="Text 13"/>
          <p:cNvSpPr/>
          <p:nvPr/>
        </p:nvSpPr>
        <p:spPr>
          <a:xfrm>
            <a:off x="4988198" y="2767905"/>
            <a:ext cx="3273504" cy="6810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4320" dirty="0"/>
          </a:p>
        </p:txBody>
      </p:sp>
      <p:sp>
        <p:nvSpPr>
          <p:cNvPr id="16" name="Text 14"/>
          <p:cNvSpPr/>
          <p:nvPr/>
        </p:nvSpPr>
        <p:spPr>
          <a:xfrm>
            <a:off x="4988198" y="3476551"/>
            <a:ext cx="3423255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Cross-check rare records with</a:t>
            </a:r>
            <a:endParaRPr lang="en-US" sz="1440" dirty="0"/>
          </a:p>
        </p:txBody>
      </p:sp>
      <p:sp>
        <p:nvSpPr>
          <p:cNvPr id="17" name="Text 15"/>
          <p:cNvSpPr/>
          <p:nvPr/>
        </p:nvSpPr>
        <p:spPr>
          <a:xfrm>
            <a:off x="4988198" y="3695998"/>
            <a:ext cx="4006103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Conservation Status before drawing</a:t>
            </a:r>
            <a:endParaRPr lang="en-US" sz="1440" dirty="0"/>
          </a:p>
        </p:txBody>
      </p:sp>
      <p:sp>
        <p:nvSpPr>
          <p:cNvPr id="18" name="Text 16"/>
          <p:cNvSpPr/>
          <p:nvPr/>
        </p:nvSpPr>
        <p:spPr>
          <a:xfrm>
            <a:off x="4988198" y="3915445"/>
            <a:ext cx="141583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44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conclusions.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9ACB05-C2AC-13B5-AB9C-9E1467F915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17" y="2286000"/>
            <a:ext cx="2248891" cy="19299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7FDBCC2-FC4C-CFEB-5DBE-31FBF53AFA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1957" y="2294276"/>
            <a:ext cx="2248891" cy="192997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9108177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dirty="0"/>
              <a:t>Species by conservation Status</a:t>
            </a:r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686965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Presence patterns can be reviewed alongside conservation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categories.</a:t>
            </a:r>
            <a:endParaRPr lang="en-US" sz="1510" dirty="0"/>
          </a:p>
        </p:txBody>
      </p:sp>
      <p:sp>
        <p:nvSpPr>
          <p:cNvPr id="12" name="Shape 10"/>
          <p:cNvSpPr/>
          <p:nvPr/>
        </p:nvSpPr>
        <p:spPr>
          <a:xfrm>
            <a:off x="644835" y="3001938"/>
            <a:ext cx="3648075" cy="123348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 flipH="1">
            <a:off x="2465249" y="3880693"/>
            <a:ext cx="56234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3684888" y="3880693"/>
            <a:ext cx="15795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851053" y="3001938"/>
            <a:ext cx="3648075" cy="1233488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296823" y="3880693"/>
            <a:ext cx="17555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5948601" y="3880693"/>
            <a:ext cx="16472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spcBef>
                <a:spcPts val="405"/>
              </a:spcBef>
              <a:buNone/>
            </a:pPr>
            <a:endParaRPr lang="en-US" sz="1080" dirty="0"/>
          </a:p>
        </p:txBody>
      </p:sp>
      <p:sp>
        <p:nvSpPr>
          <p:cNvPr id="36" name="Text 34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3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821EDA-E9CD-F9D2-DC1D-A27A3EC3EA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1150" y="2282801"/>
            <a:ext cx="3563520" cy="195262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3053522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Conclusion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280404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brings wildlife records, park context and conservation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fields into one interactive analytical view.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8167" y="2613943"/>
            <a:ext cx="2619375" cy="180975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90562" y="2895154"/>
            <a:ext cx="623456" cy="4524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8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01</a:t>
            </a:r>
            <a:endParaRPr lang="en-US" sz="2880" dirty="0"/>
          </a:p>
        </p:txBody>
      </p:sp>
      <p:sp>
        <p:nvSpPr>
          <p:cNvPr id="12" name="Text 10"/>
          <p:cNvSpPr/>
          <p:nvPr/>
        </p:nvSpPr>
        <p:spPr>
          <a:xfrm>
            <a:off x="690562" y="3489424"/>
            <a:ext cx="24120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Clean data supports</a:t>
            </a:r>
            <a:endParaRPr lang="en-US" sz="1510" dirty="0"/>
          </a:p>
        </p:txBody>
      </p:sp>
      <p:sp>
        <p:nvSpPr>
          <p:cNvPr id="13" name="Text 11"/>
          <p:cNvSpPr/>
          <p:nvPr/>
        </p:nvSpPr>
        <p:spPr>
          <a:xfrm>
            <a:off x="690562" y="3719810"/>
            <a:ext cx="18831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clearer analysis.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3262313" y="2613943"/>
            <a:ext cx="2619375" cy="1809750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494708" y="2895154"/>
            <a:ext cx="725708" cy="4524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8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02</a:t>
            </a:r>
            <a:endParaRPr lang="en-US" sz="2880" dirty="0"/>
          </a:p>
        </p:txBody>
      </p:sp>
      <p:sp>
        <p:nvSpPr>
          <p:cNvPr id="16" name="Text 14"/>
          <p:cNvSpPr/>
          <p:nvPr/>
        </p:nvSpPr>
        <p:spPr>
          <a:xfrm>
            <a:off x="3494708" y="3489424"/>
            <a:ext cx="2760211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DAX measures keep KPI</a:t>
            </a:r>
            <a:endParaRPr lang="en-US" sz="1510" dirty="0"/>
          </a:p>
        </p:txBody>
      </p:sp>
      <p:sp>
        <p:nvSpPr>
          <p:cNvPr id="17" name="Text 15"/>
          <p:cNvSpPr/>
          <p:nvPr/>
        </p:nvSpPr>
        <p:spPr>
          <a:xfrm>
            <a:off x="3494708" y="3719810"/>
            <a:ext cx="192961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logic consistent.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6066458" y="2613943"/>
            <a:ext cx="2619375" cy="1809750"/>
          </a:xfrm>
          <a:prstGeom prst="rect">
            <a:avLst/>
          </a:prstGeom>
          <a:solidFill>
            <a:srgbClr val="203D2B"/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298853" y="2895154"/>
            <a:ext cx="719033" cy="4524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80" b="1" dirty="0">
                <a:solidFill>
                  <a:srgbClr val="C98B4A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03</a:t>
            </a:r>
            <a:endParaRPr lang="en-US" sz="2880" dirty="0"/>
          </a:p>
        </p:txBody>
      </p:sp>
      <p:sp>
        <p:nvSpPr>
          <p:cNvPr id="20" name="Text 18"/>
          <p:cNvSpPr/>
          <p:nvPr/>
        </p:nvSpPr>
        <p:spPr>
          <a:xfrm>
            <a:off x="6298853" y="3489424"/>
            <a:ext cx="271106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F4F0E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Dashboard views make</a:t>
            </a:r>
            <a:endParaRPr lang="en-US" sz="1510" dirty="0"/>
          </a:p>
        </p:txBody>
      </p:sp>
      <p:sp>
        <p:nvSpPr>
          <p:cNvPr id="21" name="Text 19"/>
          <p:cNvSpPr/>
          <p:nvPr/>
        </p:nvSpPr>
        <p:spPr>
          <a:xfrm>
            <a:off x="6298853" y="3719810"/>
            <a:ext cx="262845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F4F0E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comparisons easier to</a:t>
            </a:r>
            <a:endParaRPr lang="en-US" sz="1510" dirty="0"/>
          </a:p>
        </p:txBody>
      </p:sp>
      <p:sp>
        <p:nvSpPr>
          <p:cNvPr id="22" name="Text 20"/>
          <p:cNvSpPr/>
          <p:nvPr/>
        </p:nvSpPr>
        <p:spPr>
          <a:xfrm>
            <a:off x="6298853" y="3950196"/>
            <a:ext cx="169947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F4F0E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communicate.</a:t>
            </a:r>
            <a:endParaRPr lang="en-US" sz="1510" dirty="0"/>
          </a:p>
        </p:txBody>
      </p:sp>
      <p:sp>
        <p:nvSpPr>
          <p:cNvPr id="23" name="Text 21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EFE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57200" y="206573"/>
            <a:ext cx="8229600" cy="285750"/>
          </a:xfrm>
          <a:prstGeom prst="rect">
            <a:avLst/>
          </a:prstGeom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297061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8B4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457200" y="1071339"/>
            <a:ext cx="2933179" cy="5095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40" b="1" kern="0" spc="-146" dirty="0">
                <a:solidFill>
                  <a:srgbClr val="203D2B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References</a:t>
            </a:r>
            <a:endParaRPr lang="en-US" sz="3240" dirty="0"/>
          </a:p>
        </p:txBody>
      </p:sp>
      <p:sp>
        <p:nvSpPr>
          <p:cNvPr id="9" name="Text 7"/>
          <p:cNvSpPr/>
          <p:nvPr/>
        </p:nvSpPr>
        <p:spPr>
          <a:xfrm>
            <a:off x="457200" y="1641246"/>
            <a:ext cx="7036043" cy="4876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Add the final source list used for the dataset, definitions and</a:t>
            </a:r>
            <a:endParaRPr lang="en-US" sz="1510" dirty="0"/>
          </a:p>
          <a:p>
            <a:pPr marL="0" indent="0" algn="l">
              <a:lnSpc>
                <a:spcPts val="1890"/>
              </a:lnSpc>
              <a:buNone/>
            </a:pPr>
            <a:r>
              <a:rPr lang="en-US" sz="151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methodology.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457684" y="2521855"/>
            <a:ext cx="3976687" cy="124777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558522" y="2571750"/>
            <a:ext cx="2245652" cy="3872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DATASET SOURCE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58522" y="3124126"/>
            <a:ext cx="39766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</a:rPr>
              <a:t>Dataset Source : Kaggle</a:t>
            </a:r>
          </a:p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</a:rPr>
              <a:t>Data Used: Wildlife &amp; National Park dataset.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4709629" y="2521855"/>
            <a:ext cx="3976687" cy="1247775"/>
          </a:xfrm>
          <a:prstGeom prst="rect">
            <a:avLst/>
          </a:prstGeom>
          <a:solidFill>
            <a:srgbClr val="EAE6DA">
              <a:alpha val="74902"/>
            </a:srgbClr>
          </a:solidFill>
          <a:ln w="4763">
            <a:solidFill>
              <a:srgbClr val="223C28">
                <a:alpha val="14902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942508" y="2768501"/>
            <a:ext cx="261452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184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METHOD REFERENCES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942508" y="3066976"/>
            <a:ext cx="446831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Insert Power BI, Power Query and DAX</a:t>
            </a:r>
            <a:endParaRPr lang="en-US" sz="1510" dirty="0"/>
          </a:p>
        </p:txBody>
      </p:sp>
      <p:sp>
        <p:nvSpPr>
          <p:cNvPr id="17" name="Text 15"/>
          <p:cNvSpPr/>
          <p:nvPr/>
        </p:nvSpPr>
        <p:spPr>
          <a:xfrm>
            <a:off x="4942508" y="3297362"/>
            <a:ext cx="136901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810"/>
              </a:spcBef>
              <a:buNone/>
            </a:pPr>
            <a:r>
              <a:rPr lang="en-US" sz="1510" dirty="0">
                <a:solidFill>
                  <a:srgbClr val="2F3A3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references</a:t>
            </a:r>
            <a:endParaRPr lang="en-US" sz="1510" dirty="0"/>
          </a:p>
        </p:txBody>
      </p:sp>
      <p:sp>
        <p:nvSpPr>
          <p:cNvPr id="18" name="Text 16"/>
          <p:cNvSpPr/>
          <p:nvPr/>
        </p:nvSpPr>
        <p:spPr>
          <a:xfrm>
            <a:off x="457200" y="4166815"/>
            <a:ext cx="79960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50" kern="0" spc="138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REPLACE PLACEHOLDERS WITH VERIFIED CITATIONS BEFORE SUBMISSION.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4767337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6873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7200" y="206573"/>
            <a:ext cx="8229600" cy="285750"/>
          </a:xfrm>
          <a:prstGeom prst="rect">
            <a:avLst/>
          </a:prstGeom>
        </p:spPr>
      </p:pic>
      <p:pic>
        <p:nvPicPr>
          <p:cNvPr id="2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4044144"/>
            <a:ext cx="8229600" cy="32861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3D2B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7101" y="372"/>
            <a:ext cx="9144000" cy="5143500"/>
          </a:xfrm>
          <a:prstGeom prst="rect">
            <a:avLst/>
          </a:prstGeom>
          <a:solidFill>
            <a:srgbClr val="203D2B">
              <a:alpha val="85098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457200" y="502816"/>
            <a:ext cx="24566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b="1" kern="0" spc="194" dirty="0">
                <a:solidFill>
                  <a:srgbClr val="C9D2C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ANALYTICS</a:t>
            </a:r>
            <a:endParaRPr lang="en-US" sz="1080" dirty="0"/>
          </a:p>
        </p:txBody>
      </p:sp>
      <p:sp>
        <p:nvSpPr>
          <p:cNvPr id="7" name="Shape 4"/>
          <p:cNvSpPr/>
          <p:nvPr/>
        </p:nvSpPr>
        <p:spPr>
          <a:xfrm>
            <a:off x="457646" y="2485430"/>
            <a:ext cx="547687" cy="42863"/>
          </a:xfrm>
          <a:prstGeom prst="rect">
            <a:avLst/>
          </a:prstGeom>
          <a:solidFill>
            <a:srgbClr val="C98B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57200" y="2572122"/>
            <a:ext cx="4429817" cy="7905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5040" b="1" kern="0" spc="-277" dirty="0">
                <a:solidFill>
                  <a:srgbClr val="F4F0E7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Thank You</a:t>
            </a:r>
            <a:endParaRPr lang="en-US" sz="5040" dirty="0"/>
          </a:p>
        </p:txBody>
      </p:sp>
      <p:sp>
        <p:nvSpPr>
          <p:cNvPr id="9" name="Text 6"/>
          <p:cNvSpPr/>
          <p:nvPr/>
        </p:nvSpPr>
        <p:spPr>
          <a:xfrm>
            <a:off x="457200" y="3431009"/>
            <a:ext cx="5780477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spcBef>
                <a:spcPts val="1215"/>
              </a:spcBef>
              <a:buNone/>
            </a:pPr>
            <a:r>
              <a:rPr lang="en-US" sz="1660" dirty="0">
                <a:solidFill>
                  <a:srgbClr val="D7E0D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Wildlife Biodiversity &amp; National Park Analytics</a:t>
            </a:r>
            <a:endParaRPr lang="en-US" sz="1660" dirty="0"/>
          </a:p>
        </p:txBody>
      </p:sp>
      <p:sp>
        <p:nvSpPr>
          <p:cNvPr id="11" name="Text 8"/>
          <p:cNvSpPr/>
          <p:nvPr/>
        </p:nvSpPr>
        <p:spPr>
          <a:xfrm>
            <a:off x="457200" y="4638749"/>
            <a:ext cx="334218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80" kern="0" spc="140" dirty="0">
                <a:solidFill>
                  <a:srgbClr val="AEBBA8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POWER BI · POWER QUERY · DAX</a:t>
            </a:r>
            <a:endParaRPr lang="en-US" sz="108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" y="412328"/>
            <a:ext cx="8229600" cy="285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</TotalTime>
  <Words>1334</Words>
  <Application>Microsoft Office PowerPoint</Application>
  <PresentationFormat>On-screen Show (16:9)</PresentationFormat>
  <Paragraphs>370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DM Sans</vt:lpstr>
      <vt:lpstr>Libre Baskerville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Dhivyasree V</cp:lastModifiedBy>
  <cp:revision>9</cp:revision>
  <dcterms:created xsi:type="dcterms:W3CDTF">2026-09-13T05:35:12Z</dcterms:created>
  <dcterms:modified xsi:type="dcterms:W3CDTF">2026-09-25T13:23:58Z</dcterms:modified>
</cp:coreProperties>
</file>