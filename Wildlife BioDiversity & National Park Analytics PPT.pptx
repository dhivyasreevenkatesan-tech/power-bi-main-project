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9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7" r:id="rId28"/>
    <p:sldId id="288" r:id="rId29"/>
    <p:sldId id="289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82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DCFF0-626E-5AEA-4C34-A0621FE7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8A093-6092-093E-5A1B-DB26D2CF0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D1752-7CF2-D378-F800-80074E256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1067-0D20-D7C7-4994-C45008BA6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70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tmp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tmp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tmp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11" Type="http://schemas.openxmlformats.org/officeDocument/2006/relationships/image" Target="../media/image36.tmp"/><Relationship Id="rId5" Type="http://schemas.openxmlformats.org/officeDocument/2006/relationships/image" Target="../media/image30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tmp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tmp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tmp"/><Relationship Id="rId5" Type="http://schemas.openxmlformats.org/officeDocument/2006/relationships/image" Target="../media/image47.tmp"/><Relationship Id="rId4" Type="http://schemas.openxmlformats.org/officeDocument/2006/relationships/image" Target="../media/image4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53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tmp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tmp"/><Relationship Id="rId5" Type="http://schemas.openxmlformats.org/officeDocument/2006/relationships/image" Target="../media/image58.svg"/><Relationship Id="rId4" Type="http://schemas.openxmlformats.org/officeDocument/2006/relationships/image" Target="../media/image5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tmp"/><Relationship Id="rId4" Type="http://schemas.openxmlformats.org/officeDocument/2006/relationships/image" Target="../media/image6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tmp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tmp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tmp"/><Relationship Id="rId4" Type="http://schemas.openxmlformats.org/officeDocument/2006/relationships/image" Target="../media/image7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tmp"/><Relationship Id="rId5" Type="http://schemas.openxmlformats.org/officeDocument/2006/relationships/image" Target="../media/image78.svg"/><Relationship Id="rId4" Type="http://schemas.openxmlformats.org/officeDocument/2006/relationships/image" Target="../media/image7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tmp"/><Relationship Id="rId4" Type="http://schemas.openxmlformats.org/officeDocument/2006/relationships/image" Target="../media/image81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8130" y="410542"/>
            <a:ext cx="638175" cy="42863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342900" y="532135"/>
            <a:ext cx="7444427" cy="2197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4460" b="1" kern="0" spc="-246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Wildlife Biodiversity</a:t>
            </a:r>
            <a:endParaRPr lang="en-US" sz="4460" dirty="0"/>
          </a:p>
        </p:txBody>
      </p:sp>
      <p:sp>
        <p:nvSpPr>
          <p:cNvPr id="8" name="Text 4"/>
          <p:cNvSpPr/>
          <p:nvPr/>
        </p:nvSpPr>
        <p:spPr>
          <a:xfrm>
            <a:off x="457200" y="1880756"/>
            <a:ext cx="5643205" cy="8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4460" b="1" kern="0" spc="-246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&amp; National Park</a:t>
            </a:r>
            <a:endParaRPr lang="en-US" sz="4460" dirty="0"/>
          </a:p>
        </p:txBody>
      </p:sp>
      <p:sp>
        <p:nvSpPr>
          <p:cNvPr id="9" name="Text 5"/>
          <p:cNvSpPr/>
          <p:nvPr/>
        </p:nvSpPr>
        <p:spPr>
          <a:xfrm>
            <a:off x="458130" y="2571750"/>
            <a:ext cx="3280410" cy="848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4460" b="1" kern="0" spc="-246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Analytics</a:t>
            </a:r>
            <a:endParaRPr lang="en-US" sz="4460" dirty="0"/>
          </a:p>
        </p:txBody>
      </p:sp>
      <p:sp>
        <p:nvSpPr>
          <p:cNvPr id="10" name="Text 6"/>
          <p:cNvSpPr/>
          <p:nvPr/>
        </p:nvSpPr>
        <p:spPr>
          <a:xfrm>
            <a:off x="458130" y="3471802"/>
            <a:ext cx="541190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73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Data Analytics using Power BI</a:t>
            </a:r>
            <a:endParaRPr lang="en-US" sz="1730" dirty="0"/>
          </a:p>
        </p:txBody>
      </p:sp>
      <p:sp>
        <p:nvSpPr>
          <p:cNvPr id="11" name="Text 7"/>
          <p:cNvSpPr/>
          <p:nvPr/>
        </p:nvSpPr>
        <p:spPr>
          <a:xfrm>
            <a:off x="1679341" y="4064586"/>
            <a:ext cx="1780911" cy="557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 </a:t>
            </a:r>
          </a:p>
          <a:p>
            <a:pPr marL="0" indent="0" algn="l">
              <a:buNone/>
            </a:pPr>
            <a:endParaRPr lang="en-US" sz="1220" b="1" dirty="0">
              <a:solidFill>
                <a:srgbClr val="D7E0D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ctr">
              <a:buNone/>
            </a:pPr>
            <a:r>
              <a:rPr lang="en-US" sz="1220" b="1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Dhivyasree V</a:t>
            </a:r>
            <a:endParaRPr lang="en-US" sz="122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3398974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302364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Biodiversity represents the variety of living organisms. National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parks protect wildlife and ecosystems.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8167" y="2699258"/>
            <a:ext cx="2619375" cy="1724025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798" y="2900958"/>
            <a:ext cx="3211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798" y="3208853"/>
            <a:ext cx="2919926" cy="96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datasets contain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about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species, parks, habitats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conservation.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3262313" y="2699258"/>
            <a:ext cx="2619375" cy="1724025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48943" y="2900958"/>
            <a:ext cx="3609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48943" y="3208853"/>
            <a:ext cx="2848340" cy="727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analytics helps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these records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into meaningful insights.</a:t>
            </a:r>
            <a:endParaRPr lang="en-US" sz="1510" dirty="0"/>
          </a:p>
        </p:txBody>
      </p:sp>
      <p:sp>
        <p:nvSpPr>
          <p:cNvPr id="16" name="Shape 14"/>
          <p:cNvSpPr/>
          <p:nvPr/>
        </p:nvSpPr>
        <p:spPr>
          <a:xfrm>
            <a:off x="6066458" y="2699258"/>
            <a:ext cx="2619375" cy="1724025"/>
          </a:xfrm>
          <a:prstGeom prst="rect">
            <a:avLst/>
          </a:prstGeom>
          <a:solidFill>
            <a:srgbClr val="203D2B"/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53088" y="2900958"/>
            <a:ext cx="366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C9D2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53088" y="3189908"/>
            <a:ext cx="274869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Records become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6253088" y="3446636"/>
            <a:ext cx="2079464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evidence for</a:t>
            </a:r>
            <a:endParaRPr lang="en-US" sz="1870" dirty="0"/>
          </a:p>
        </p:txBody>
      </p:sp>
      <p:sp>
        <p:nvSpPr>
          <p:cNvPr id="20" name="Text 18"/>
          <p:cNvSpPr/>
          <p:nvPr/>
        </p:nvSpPr>
        <p:spPr>
          <a:xfrm>
            <a:off x="6253088" y="3703365"/>
            <a:ext cx="216294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conservation</a:t>
            </a:r>
            <a:endParaRPr lang="en-US" sz="1870" dirty="0"/>
          </a:p>
        </p:txBody>
      </p:sp>
      <p:sp>
        <p:nvSpPr>
          <p:cNvPr id="21" name="Text 19"/>
          <p:cNvSpPr/>
          <p:nvPr/>
        </p:nvSpPr>
        <p:spPr>
          <a:xfrm>
            <a:off x="6253088" y="3960093"/>
            <a:ext cx="16465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decisions.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" y="-8152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4525975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36588"/>
            <a:ext cx="716615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view of wildlife, parks and conservation patterns.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70683" y="2875050"/>
            <a:ext cx="2443163" cy="590550"/>
          </a:xfrm>
          <a:prstGeom prst="rect">
            <a:avLst/>
          </a:prstGeom>
          <a:solidFill>
            <a:srgbClr val="E7E4D9"/>
          </a:solidFill>
          <a:ln w="4763">
            <a:solidFill>
              <a:srgbClr val="1E3C2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3352" y="3036689"/>
            <a:ext cx="199056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Species records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3037210" y="3016151"/>
            <a:ext cx="28622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60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→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3350419" y="2854784"/>
            <a:ext cx="2443163" cy="590550"/>
          </a:xfrm>
          <a:prstGeom prst="rect">
            <a:avLst/>
          </a:prstGeom>
          <a:solidFill>
            <a:srgbClr val="E7E4D9"/>
          </a:solidFill>
          <a:ln w="4763">
            <a:solidFill>
              <a:srgbClr val="1E3C2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42098" y="3036689"/>
            <a:ext cx="205972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model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930578" y="3016151"/>
            <a:ext cx="28622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60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→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6243786" y="2854784"/>
            <a:ext cx="2443163" cy="590550"/>
          </a:xfrm>
          <a:prstGeom prst="rect">
            <a:avLst/>
          </a:prstGeom>
          <a:solidFill>
            <a:srgbClr val="E7E4D9"/>
          </a:solidFill>
          <a:ln w="4763">
            <a:solidFill>
              <a:srgbClr val="1E3C2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71343" y="3036689"/>
            <a:ext cx="278797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dashboard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57200" y="3717727"/>
            <a:ext cx="8132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975050"/>
            <a:ext cx="230360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distribution,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457200" y="4194497"/>
            <a:ext cx="314474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abundance and occurrence.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3261345" y="3717727"/>
            <a:ext cx="11964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61345" y="3975050"/>
            <a:ext cx="336366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/ non-native, parks and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3261345" y="4194497"/>
            <a:ext cx="125844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categories.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6065490" y="3717727"/>
            <a:ext cx="11287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65490" y="3975050"/>
            <a:ext cx="321720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Rare and threatened species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6065490" y="4194497"/>
            <a:ext cx="10407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patterns.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5122850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36588"/>
            <a:ext cx="637841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91"/>
              </a:spcBef>
            </a:pPr>
            <a:r>
              <a:rPr lang="en-GB" sz="1510" dirty="0"/>
              <a:t>Wildlife data contains a large number of records and different attributes, making manual analysis difficult.</a:t>
            </a:r>
          </a:p>
        </p:txBody>
      </p:sp>
      <p:sp>
        <p:nvSpPr>
          <p:cNvPr id="10" name="Shape 8"/>
          <p:cNvSpPr/>
          <p:nvPr/>
        </p:nvSpPr>
        <p:spPr>
          <a:xfrm>
            <a:off x="457684" y="2295748"/>
            <a:ext cx="3976687" cy="2076450"/>
          </a:xfrm>
          <a:prstGeom prst="rect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490" y="2494062"/>
            <a:ext cx="392445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?</a:t>
            </a:r>
            <a:endParaRPr lang="en-US" sz="5040" dirty="0"/>
          </a:p>
        </p:txBody>
      </p:sp>
      <p:sp>
        <p:nvSpPr>
          <p:cNvPr id="12" name="Text 10"/>
          <p:cNvSpPr/>
          <p:nvPr/>
        </p:nvSpPr>
        <p:spPr>
          <a:xfrm>
            <a:off x="731490" y="3294162"/>
            <a:ext cx="2946142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Which signals are</a:t>
            </a:r>
            <a:endParaRPr lang="en-US" sz="1870" dirty="0"/>
          </a:p>
        </p:txBody>
      </p:sp>
      <p:sp>
        <p:nvSpPr>
          <p:cNvPr id="13" name="Text 11"/>
          <p:cNvSpPr/>
          <p:nvPr/>
        </p:nvSpPr>
        <p:spPr>
          <a:xfrm>
            <a:off x="731490" y="3555653"/>
            <a:ext cx="301908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easiest to miss in a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731490" y="3817144"/>
            <a:ext cx="2109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spreadsheet?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4846811" y="2582912"/>
            <a:ext cx="31300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846811" y="2930947"/>
            <a:ext cx="374819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4846811" y="3278981"/>
            <a:ext cx="38347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4846811" y="3627016"/>
            <a:ext cx="45924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4846811" y="3846463"/>
            <a:ext cx="20915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DAD48A7-EE17-2271-EF3C-1FF5C5B5DE9B}"/>
              </a:ext>
            </a:extLst>
          </p:cNvPr>
          <p:cNvSpPr txBox="1"/>
          <p:nvPr/>
        </p:nvSpPr>
        <p:spPr>
          <a:xfrm>
            <a:off x="4568813" y="2538577"/>
            <a:ext cx="4435450" cy="1718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10" dirty="0"/>
              <a:t>Major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10" dirty="0"/>
              <a:t>Difficult to analyse large wildlife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10" dirty="0"/>
              <a:t>Difficult to compare species across parks.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10" dirty="0"/>
              <a:t>Difficult to identify rare and threatened species.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10" dirty="0"/>
              <a:t>Difficult to understand conservation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10" dirty="0"/>
              <a:t>Difficult to identify relationships between park area and species count.</a:t>
            </a:r>
            <a:endParaRPr lang="en-IN" sz="15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2749667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Objectives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177088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analysis is designed to move from records to comparable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80790" y="2128881"/>
            <a:ext cx="2619375" cy="2409825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798" y="2216869"/>
            <a:ext cx="8411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128" y="2591023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82464" y="2515344"/>
            <a:ext cx="276562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total and unique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782464" y="2734791"/>
            <a:ext cx="9076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644128" y="3117354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82464" y="3041675"/>
            <a:ext cx="278991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parks and states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644128" y="3424238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82464" y="3348558"/>
            <a:ext cx="16192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species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782464" y="3568005"/>
            <a:ext cx="12114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3284935" y="2128880"/>
            <a:ext cx="2619375" cy="2409825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48943" y="2216869"/>
            <a:ext cx="12359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48273" y="2591023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86609" y="2515344"/>
            <a:ext cx="22850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native and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3586609" y="2734791"/>
            <a:ext cx="21801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non-native species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3448273" y="3117354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86609" y="3041675"/>
            <a:ext cx="22527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abundance,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3586609" y="3261122"/>
            <a:ext cx="179805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occurrence and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3586609" y="3480569"/>
            <a:ext cx="130217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seasonality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3448273" y="3863132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86609" y="3787453"/>
            <a:ext cx="27080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rare/threatened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3586609" y="4006900"/>
            <a:ext cx="9076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6043837" y="2103224"/>
            <a:ext cx="2619375" cy="2409825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53088" y="2216869"/>
            <a:ext cx="9927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52418" y="2591023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90754" y="2515344"/>
            <a:ext cx="21972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conservation</a:t>
            </a:r>
            <a:endParaRPr lang="en-US" sz="1440" dirty="0"/>
          </a:p>
        </p:txBody>
      </p:sp>
      <p:sp>
        <p:nvSpPr>
          <p:cNvPr id="36" name="Text 34"/>
          <p:cNvSpPr/>
          <p:nvPr/>
        </p:nvSpPr>
        <p:spPr>
          <a:xfrm>
            <a:off x="6390754" y="2734791"/>
            <a:ext cx="73915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252418" y="3117354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90754" y="3041675"/>
            <a:ext cx="17383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parks</a:t>
            </a:r>
            <a:endParaRPr lang="en-US" sz="1440" dirty="0"/>
          </a:p>
        </p:txBody>
      </p:sp>
      <p:sp>
        <p:nvSpPr>
          <p:cNvPr id="39" name="Shape 37"/>
          <p:cNvSpPr/>
          <p:nvPr/>
        </p:nvSpPr>
        <p:spPr>
          <a:xfrm>
            <a:off x="6252418" y="3424238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90754" y="3348558"/>
            <a:ext cx="21607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an interactive</a:t>
            </a:r>
            <a:endParaRPr lang="en-US" sz="1440" dirty="0"/>
          </a:p>
        </p:txBody>
      </p:sp>
      <p:sp>
        <p:nvSpPr>
          <p:cNvPr id="41" name="Text 39"/>
          <p:cNvSpPr/>
          <p:nvPr/>
        </p:nvSpPr>
        <p:spPr>
          <a:xfrm>
            <a:off x="6390754" y="3568005"/>
            <a:ext cx="12429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42" name="Text 40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4602979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737799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and park-related information forms the analytical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foundation.</a:t>
            </a:r>
            <a:endParaRPr lang="en-US" sz="1510" dirty="0"/>
          </a:p>
        </p:txBody>
      </p:sp>
      <p:sp>
        <p:nvSpPr>
          <p:cNvPr id="10" name="Text 8"/>
          <p:cNvSpPr/>
          <p:nvPr/>
        </p:nvSpPr>
        <p:spPr>
          <a:xfrm>
            <a:off x="457200" y="2246486"/>
            <a:ext cx="51075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ID · Common Name · Scientific Name ·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57200" y="2465933"/>
            <a:ext cx="275537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Family · Order · Category  </a:t>
            </a:r>
            <a:r>
              <a:rPr lang="en-US" sz="1440" dirty="0" err="1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etc</a:t>
            </a: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6530" y="2797746"/>
            <a:ext cx="4376738" cy="4763"/>
          </a:xfrm>
          <a:prstGeom prst="rect">
            <a:avLst/>
          </a:prstGeom>
          <a:solidFill>
            <a:srgbClr val="1E3C2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895823"/>
            <a:ext cx="44987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 Name · Park Code · State · Park Area etc..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56530" y="3227636"/>
            <a:ext cx="4376738" cy="4763"/>
          </a:xfrm>
          <a:prstGeom prst="rect">
            <a:avLst/>
          </a:prstGeom>
          <a:solidFill>
            <a:srgbClr val="1E3C2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325713"/>
            <a:ext cx="55434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Species · Nativeness · Non-Native Species ·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457200" y="3545160"/>
            <a:ext cx="147494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Rare Species </a:t>
            </a:r>
            <a:r>
              <a:rPr lang="en-US" sz="1440" dirty="0" err="1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etc</a:t>
            </a: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456530" y="3876973"/>
            <a:ext cx="4376738" cy="4763"/>
          </a:xfrm>
          <a:prstGeom prst="rect">
            <a:avLst/>
          </a:prstGeom>
          <a:solidFill>
            <a:srgbClr val="1E3C2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975050"/>
            <a:ext cx="531719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Conservation Status · Abundance · Occurrence ·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57200" y="4194497"/>
            <a:ext cx="132074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Seasonality </a:t>
            </a:r>
            <a:r>
              <a:rPr lang="en-US" sz="1440" dirty="0" err="1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etc</a:t>
            </a: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5106144" y="2255044"/>
            <a:ext cx="3581400" cy="1905000"/>
          </a:xfrm>
          <a:prstGeom prst="rect">
            <a:avLst/>
          </a:prstGeom>
          <a:solidFill>
            <a:srgbClr val="E7E4D9"/>
          </a:solidFill>
          <a:ln w="9525">
            <a:solidFill>
              <a:srgbClr val="213C2B">
                <a:alpha val="3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794450" y="2801689"/>
            <a:ext cx="204787" cy="204787"/>
          </a:xfrm>
          <a:prstGeom prst="rect">
            <a:avLst/>
          </a:prstGeom>
          <a:ln w="9525">
            <a:solidFill>
              <a:srgbClr val="C98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36840" y="3124051"/>
            <a:ext cx="38531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00" b="1" kern="0" spc="156" dirty="0">
                <a:solidFill>
                  <a:srgbClr val="203D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DATASET SCREENSHOT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38812" y="3417615"/>
            <a:ext cx="30679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with a verified project visual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0A9EC3-B3D3-2A40-3B80-72AF4F8D6D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7984" t="-94281" r="-9113" b="-32174"/>
          <a:stretch>
            <a:fillRect/>
          </a:stretch>
        </p:blipFill>
        <p:spPr>
          <a:xfrm>
            <a:off x="0" y="110413"/>
            <a:ext cx="9144000" cy="4922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7088" y="866626"/>
            <a:ext cx="347663" cy="42863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020" y="785813"/>
            <a:ext cx="30827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220" dirty="0">
                <a:solidFill>
                  <a:srgbClr val="203D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/ DATA FOUNDATION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5627727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Tools &amp; Technologies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394185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Power BI workflow keeps preparation, calculation and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 in one analytical surface.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8130" y="2161208"/>
            <a:ext cx="1952625" cy="2209800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798" y="2381176"/>
            <a:ext cx="4819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644798" y="2942109"/>
            <a:ext cx="147146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800" b="1" dirty="0">
                <a:solidFill>
                  <a:srgbClr val="2F3A3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798" y="3318867"/>
            <a:ext cx="181585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37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 and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644798" y="3527375"/>
            <a:ext cx="118366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37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370" dirty="0"/>
          </a:p>
        </p:txBody>
      </p:sp>
      <p:sp>
        <p:nvSpPr>
          <p:cNvPr id="15" name="Shape 13"/>
          <p:cNvSpPr/>
          <p:nvPr/>
        </p:nvSpPr>
        <p:spPr>
          <a:xfrm>
            <a:off x="2549798" y="2161208"/>
            <a:ext cx="1952625" cy="2209800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36428" y="2381176"/>
            <a:ext cx="5585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2736428" y="2942109"/>
            <a:ext cx="1063712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F3A3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F3A3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36428" y="3661767"/>
            <a:ext cx="192758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37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cleaning and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2736428" y="3870275"/>
            <a:ext cx="161173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37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transformation</a:t>
            </a:r>
            <a:endParaRPr lang="en-US" sz="1370" dirty="0"/>
          </a:p>
        </p:txBody>
      </p:sp>
      <p:sp>
        <p:nvSpPr>
          <p:cNvPr id="20" name="Shape 18"/>
          <p:cNvSpPr/>
          <p:nvPr/>
        </p:nvSpPr>
        <p:spPr>
          <a:xfrm>
            <a:off x="4641503" y="2161208"/>
            <a:ext cx="1952625" cy="2209800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133" y="2381176"/>
            <a:ext cx="5535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2160" dirty="0"/>
          </a:p>
        </p:txBody>
      </p:sp>
      <p:sp>
        <p:nvSpPr>
          <p:cNvPr id="22" name="Text 20"/>
          <p:cNvSpPr/>
          <p:nvPr/>
        </p:nvSpPr>
        <p:spPr>
          <a:xfrm>
            <a:off x="4828133" y="2942109"/>
            <a:ext cx="81267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800" b="1" dirty="0">
                <a:solidFill>
                  <a:srgbClr val="2F3A3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28133" y="3318867"/>
            <a:ext cx="189150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37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Measures and KPI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4828133" y="3527375"/>
            <a:ext cx="130758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37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calculations</a:t>
            </a:r>
            <a:endParaRPr lang="en-US" sz="1370" dirty="0"/>
          </a:p>
        </p:txBody>
      </p:sp>
      <p:sp>
        <p:nvSpPr>
          <p:cNvPr id="25" name="Shape 23"/>
          <p:cNvSpPr/>
          <p:nvPr/>
        </p:nvSpPr>
        <p:spPr>
          <a:xfrm>
            <a:off x="6733208" y="2161208"/>
            <a:ext cx="1952625" cy="2209800"/>
          </a:xfrm>
          <a:prstGeom prst="rect">
            <a:avLst/>
          </a:prstGeom>
          <a:solidFill>
            <a:srgbClr val="203D2B"/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919838" y="2381176"/>
            <a:ext cx="563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2160" dirty="0"/>
          </a:p>
        </p:txBody>
      </p:sp>
      <p:sp>
        <p:nvSpPr>
          <p:cNvPr id="27" name="Text 25"/>
          <p:cNvSpPr/>
          <p:nvPr/>
        </p:nvSpPr>
        <p:spPr>
          <a:xfrm>
            <a:off x="6919838" y="2942109"/>
            <a:ext cx="18827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80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Excel / CSV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19838" y="3318867"/>
            <a:ext cx="13207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37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data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3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8945" y="3690119"/>
            <a:ext cx="158115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4094329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655503" y="2455941"/>
            <a:ext cx="7154644" cy="1300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</a:rPr>
              <a:t>Used power query for data cleaning &amp; preprocessing.</a:t>
            </a:r>
          </a:p>
          <a:p>
            <a:pPr marL="285750" indent="-285750" algn="l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</a:rPr>
              <a:t>Identified the column containing blank value.</a:t>
            </a:r>
          </a:p>
          <a:p>
            <a:pPr marL="285750" indent="-285750" algn="l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</a:rPr>
              <a:t>Replaced blank values in the important categorical columns.</a:t>
            </a:r>
          </a:p>
          <a:p>
            <a:pPr marL="285750" indent="-285750" algn="l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</a:rPr>
              <a:t>Abundance                 Unknown</a:t>
            </a:r>
          </a:p>
          <a:p>
            <a:pPr marL="285750" indent="-285750" algn="l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</a:rPr>
              <a:t>Seasonality                 Not seasonal</a:t>
            </a:r>
          </a:p>
          <a:p>
            <a:pPr marL="285750" indent="-285750" algn="l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</a:rPr>
              <a:t>Conservation Status                 Not Evaluated. </a:t>
            </a:r>
          </a:p>
        </p:txBody>
      </p:sp>
      <p:sp>
        <p:nvSpPr>
          <p:cNvPr id="10" name="Shape 8"/>
          <p:cNvSpPr/>
          <p:nvPr/>
        </p:nvSpPr>
        <p:spPr>
          <a:xfrm>
            <a:off x="457572" y="2528069"/>
            <a:ext cx="3181350" cy="5572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572" y="3215506"/>
            <a:ext cx="3181350" cy="5572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796C3B-52E8-AB06-5AE2-B2128201C9E1}"/>
              </a:ext>
            </a:extLst>
          </p:cNvPr>
          <p:cNvCxnSpPr/>
          <p:nvPr/>
        </p:nvCxnSpPr>
        <p:spPr>
          <a:xfrm>
            <a:off x="2026227" y="3293918"/>
            <a:ext cx="716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4CE6F0-BF7C-BFAF-433F-322EA8FE3B94}"/>
              </a:ext>
            </a:extLst>
          </p:cNvPr>
          <p:cNvCxnSpPr/>
          <p:nvPr/>
        </p:nvCxnSpPr>
        <p:spPr>
          <a:xfrm>
            <a:off x="2026227" y="3539836"/>
            <a:ext cx="716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8B3C44-909C-1DFA-67DA-01BD20C86C4B}"/>
              </a:ext>
            </a:extLst>
          </p:cNvPr>
          <p:cNvCxnSpPr/>
          <p:nvPr/>
        </p:nvCxnSpPr>
        <p:spPr>
          <a:xfrm>
            <a:off x="2822863" y="3796964"/>
            <a:ext cx="716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97351-D7F0-819D-F85C-67995B0B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6533DC-74DE-3197-9D55-F36DFB55F7A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0139E2-157D-400D-EF03-EAFBAE1545D3}"/>
              </a:ext>
            </a:extLst>
          </p:cNvPr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C8EC88-22CB-264E-DA85-C37BAAE4C690}"/>
              </a:ext>
            </a:extLst>
          </p:cNvPr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2DB2F3A-B85D-E557-C49D-5A3FD4D5BBDB}"/>
              </a:ext>
            </a:extLst>
          </p:cNvPr>
          <p:cNvSpPr/>
          <p:nvPr/>
        </p:nvSpPr>
        <p:spPr>
          <a:xfrm>
            <a:off x="457200" y="1071339"/>
            <a:ext cx="4094329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Modelling</a:t>
            </a:r>
            <a:endParaRPr lang="en-US" sz="324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36AB36C-B321-3715-E389-CFFAFE24F5FD}"/>
              </a:ext>
            </a:extLst>
          </p:cNvPr>
          <p:cNvSpPr/>
          <p:nvPr/>
        </p:nvSpPr>
        <p:spPr>
          <a:xfrm>
            <a:off x="457200" y="1641246"/>
            <a:ext cx="7154644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suitable Power BI data model using species and park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information.</a:t>
            </a:r>
            <a:endParaRPr lang="en-US" sz="151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291D1A-C6FD-7626-346C-2E7521A96CF9}"/>
              </a:ext>
            </a:extLst>
          </p:cNvPr>
          <p:cNvSpPr/>
          <p:nvPr/>
        </p:nvSpPr>
        <p:spPr>
          <a:xfrm>
            <a:off x="457572" y="2528069"/>
            <a:ext cx="3181350" cy="5572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C4C0B5D-000B-0473-84D0-6E58F8EB3827}"/>
              </a:ext>
            </a:extLst>
          </p:cNvPr>
          <p:cNvSpPr/>
          <p:nvPr/>
        </p:nvSpPr>
        <p:spPr>
          <a:xfrm>
            <a:off x="613395" y="2541538"/>
            <a:ext cx="24129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KEYS</a:t>
            </a:r>
            <a:endParaRPr lang="en-US" sz="11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19A0F98-77FF-FD1A-6F85-53A06492DFFD}"/>
              </a:ext>
            </a:extLst>
          </p:cNvPr>
          <p:cNvSpPr/>
          <p:nvPr/>
        </p:nvSpPr>
        <p:spPr>
          <a:xfrm>
            <a:off x="613395" y="2817168"/>
            <a:ext cx="270400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 Code / Park Name</a:t>
            </a:r>
            <a:endParaRPr lang="en-US" sz="151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00C0B3F-7DAA-1B28-1F5F-37E649E53674}"/>
              </a:ext>
            </a:extLst>
          </p:cNvPr>
          <p:cNvSpPr/>
          <p:nvPr/>
        </p:nvSpPr>
        <p:spPr>
          <a:xfrm>
            <a:off x="457572" y="3215506"/>
            <a:ext cx="3181350" cy="5572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86C5D7F-A64E-F9DB-AA42-75FF2C174DF6}"/>
              </a:ext>
            </a:extLst>
          </p:cNvPr>
          <p:cNvSpPr/>
          <p:nvPr/>
        </p:nvSpPr>
        <p:spPr>
          <a:xfrm>
            <a:off x="613395" y="3228975"/>
            <a:ext cx="18514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GRAIN</a:t>
            </a: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B0645DD-F7F6-87DC-A466-C08E1B4E72D7}"/>
              </a:ext>
            </a:extLst>
          </p:cNvPr>
          <p:cNvSpPr/>
          <p:nvPr/>
        </p:nvSpPr>
        <p:spPr>
          <a:xfrm>
            <a:off x="613395" y="3504605"/>
            <a:ext cx="330001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ID where applicable</a:t>
            </a:r>
            <a:endParaRPr lang="en-US" sz="151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36B5CE2-37D0-079C-016C-4E7E47E8F319}"/>
              </a:ext>
            </a:extLst>
          </p:cNvPr>
          <p:cNvSpPr/>
          <p:nvPr/>
        </p:nvSpPr>
        <p:spPr>
          <a:xfrm>
            <a:off x="457200" y="3897362"/>
            <a:ext cx="39228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Relationships should reflect the level at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B4CCAD4-EA1E-C27F-329F-3E8F054CF8E2}"/>
              </a:ext>
            </a:extLst>
          </p:cNvPr>
          <p:cNvSpPr/>
          <p:nvPr/>
        </p:nvSpPr>
        <p:spPr>
          <a:xfrm>
            <a:off x="457200" y="4103117"/>
            <a:ext cx="28477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each record is stored.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BBD7D99-F99D-768F-BB34-97F6E04C1757}"/>
              </a:ext>
            </a:extLst>
          </p:cNvPr>
          <p:cNvSpPr/>
          <p:nvPr/>
        </p:nvSpPr>
        <p:spPr>
          <a:xfrm>
            <a:off x="3914180" y="2467942"/>
            <a:ext cx="4772025" cy="1905000"/>
          </a:xfrm>
          <a:prstGeom prst="rect">
            <a:avLst/>
          </a:prstGeom>
          <a:solidFill>
            <a:srgbClr val="E7E4D9"/>
          </a:solidFill>
          <a:ln w="9525">
            <a:solidFill>
              <a:srgbClr val="213C2B">
                <a:alpha val="3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55D5871-C4DC-7C64-79C7-5379B0609F52}"/>
              </a:ext>
            </a:extLst>
          </p:cNvPr>
          <p:cNvSpPr/>
          <p:nvPr/>
        </p:nvSpPr>
        <p:spPr>
          <a:xfrm>
            <a:off x="6197798" y="3014588"/>
            <a:ext cx="204787" cy="204787"/>
          </a:xfrm>
          <a:prstGeom prst="rect">
            <a:avLst/>
          </a:prstGeom>
          <a:ln w="9525">
            <a:solidFill>
              <a:srgbClr val="C98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9C0CA81-A084-ACFD-7AF3-F1DD2492E640}"/>
              </a:ext>
            </a:extLst>
          </p:cNvPr>
          <p:cNvSpPr/>
          <p:nvPr/>
        </p:nvSpPr>
        <p:spPr>
          <a:xfrm>
            <a:off x="4925467" y="3336950"/>
            <a:ext cx="36314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00" b="1" kern="0" spc="156" dirty="0">
                <a:solidFill>
                  <a:srgbClr val="203D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MODEL SCREENSHOT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23132F3-EFFE-C84C-51CD-D5095617EE85}"/>
              </a:ext>
            </a:extLst>
          </p:cNvPr>
          <p:cNvSpPr/>
          <p:nvPr/>
        </p:nvSpPr>
        <p:spPr>
          <a:xfrm>
            <a:off x="5142161" y="3630513"/>
            <a:ext cx="30679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with a verified project visual</a:t>
            </a:r>
            <a:endParaRPr lang="en-US" sz="108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6DCABED-869E-C3E3-43B7-93DCE48E12AD}"/>
              </a:ext>
            </a:extLst>
          </p:cNvPr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3AA3BF73-12B5-5266-484B-E91F549DD7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2406DDDE-5860-A48A-B6E6-C2C9B917F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572" y="2528069"/>
            <a:ext cx="3181350" cy="557213"/>
          </a:xfrm>
          <a:prstGeom prst="rect">
            <a:avLst/>
          </a:prstGeom>
        </p:spPr>
      </p:pic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E502684D-C8C1-A128-0B4F-45324D6AC8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572" y="3215506"/>
            <a:ext cx="3181350" cy="5572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29D5CC4-0D86-71FB-4C6D-7F6DD5DFC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953" y="2467941"/>
            <a:ext cx="5063252" cy="202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6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527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6702296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DAX &amp; KPI Development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978387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DAX measures for dashboard calculations. Do not insert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invented KPI values.</a:t>
            </a:r>
            <a:endParaRPr lang="en-US" sz="1510" dirty="0"/>
          </a:p>
        </p:txBody>
      </p:sp>
      <p:sp>
        <p:nvSpPr>
          <p:cNvPr id="11" name="Text 9"/>
          <p:cNvSpPr/>
          <p:nvPr/>
        </p:nvSpPr>
        <p:spPr>
          <a:xfrm>
            <a:off x="457200" y="2141847"/>
            <a:ext cx="5866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KPIS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1679" y="2400449"/>
            <a:ext cx="1528763" cy="68103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0562" y="2443014"/>
            <a:ext cx="1424062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kern="0" spc="-10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[value]</a:t>
            </a:r>
            <a:endParaRPr lang="en-US" sz="2520" dirty="0"/>
          </a:p>
        </p:txBody>
      </p:sp>
      <p:sp>
        <p:nvSpPr>
          <p:cNvPr id="14" name="Text 12"/>
          <p:cNvSpPr/>
          <p:nvPr/>
        </p:nvSpPr>
        <p:spPr>
          <a:xfrm>
            <a:off x="690562" y="2877145"/>
            <a:ext cx="17042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150" b="1" kern="0" spc="115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SPECIES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05509" y="2400449"/>
            <a:ext cx="1528763" cy="68103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04393" y="2443014"/>
            <a:ext cx="1424062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kern="0" spc="-10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[value]</a:t>
            </a:r>
            <a:endParaRPr lang="en-US" sz="2520" dirty="0"/>
          </a:p>
        </p:txBody>
      </p:sp>
      <p:sp>
        <p:nvSpPr>
          <p:cNvPr id="17" name="Text 15"/>
          <p:cNvSpPr/>
          <p:nvPr/>
        </p:nvSpPr>
        <p:spPr>
          <a:xfrm>
            <a:off x="2404393" y="2877145"/>
            <a:ext cx="18396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150" b="1" kern="0" spc="115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 SPECIES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9376" y="2400449"/>
            <a:ext cx="1528763" cy="68103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8223" y="2443014"/>
            <a:ext cx="1424062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kern="0" spc="-10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[value]</a:t>
            </a:r>
            <a:endParaRPr lang="en-US" sz="2520" dirty="0"/>
          </a:p>
        </p:txBody>
      </p:sp>
      <p:sp>
        <p:nvSpPr>
          <p:cNvPr id="20" name="Text 18"/>
          <p:cNvSpPr/>
          <p:nvPr/>
        </p:nvSpPr>
        <p:spPr>
          <a:xfrm>
            <a:off x="4118223" y="2877145"/>
            <a:ext cx="13684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150" b="1" kern="0" spc="115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PARK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1679" y="3288990"/>
            <a:ext cx="1528763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405509" y="3288990"/>
            <a:ext cx="1528763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119376" y="3288990"/>
            <a:ext cx="1528763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25453" y="1885063"/>
            <a:ext cx="2619375" cy="2628900"/>
          </a:xfrm>
          <a:prstGeom prst="rect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94090" y="2181299"/>
            <a:ext cx="1568105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DAX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294090" y="2798299"/>
            <a:ext cx="2681273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Measures keep KPI logic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 across pages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filters.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6294090" y="3781351"/>
            <a:ext cx="23073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080" kern="0" spc="108" dirty="0">
                <a:solidFill>
                  <a:srgbClr val="C9D2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VALUES ONLY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679" y="2400449"/>
            <a:ext cx="1528763" cy="681038"/>
          </a:xfrm>
          <a:prstGeom prst="rect">
            <a:avLst/>
          </a:prstGeom>
        </p:spPr>
      </p:pic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5509" y="2400449"/>
            <a:ext cx="1528763" cy="681038"/>
          </a:xfrm>
          <a:prstGeom prst="rect">
            <a:avLst/>
          </a:prstGeom>
        </p:spPr>
      </p:pic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9376" y="2400449"/>
            <a:ext cx="1528763" cy="681038"/>
          </a:xfrm>
          <a:prstGeom prst="rect">
            <a:avLst/>
          </a:prstGeom>
        </p:spPr>
      </p:pic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679" y="3288990"/>
            <a:ext cx="1528763" cy="900113"/>
          </a:xfrm>
          <a:prstGeom prst="rect">
            <a:avLst/>
          </a:prstGeom>
        </p:spPr>
      </p:pic>
      <p:pic>
        <p:nvPicPr>
          <p:cNvPr id="4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05509" y="3288990"/>
            <a:ext cx="1528763" cy="900113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376" y="3288990"/>
            <a:ext cx="1528763" cy="900113"/>
          </a:xfrm>
          <a:prstGeom prst="rect">
            <a:avLst/>
          </a:prstGeom>
        </p:spPr>
      </p:pic>
      <p:pic>
        <p:nvPicPr>
          <p:cNvPr id="4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5058" y="3690863"/>
            <a:ext cx="2162175" cy="2857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5F276B9-664B-1FAE-391E-56445C452F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9131" y="2562223"/>
            <a:ext cx="85737" cy="19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5FAEC5-474A-8082-E0F5-B9FB514C19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9172" y="2375929"/>
            <a:ext cx="5589765" cy="4763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C19042-035C-9529-EC02-12E0FEF061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310" y="2914646"/>
            <a:ext cx="5638558" cy="40441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05FEB52-13CB-0FBD-634C-037A67A2AD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2500" y="3405968"/>
            <a:ext cx="5606437" cy="440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7088" y="866626"/>
            <a:ext cx="347663" cy="42863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5486586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Structure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36588"/>
            <a:ext cx="38795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dashboard contains 3 pages.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8167" y="2433935"/>
            <a:ext cx="2619375" cy="1938337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0562" y="2600920"/>
            <a:ext cx="906609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2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4320" dirty="0"/>
          </a:p>
        </p:txBody>
      </p:sp>
      <p:sp>
        <p:nvSpPr>
          <p:cNvPr id="12" name="Text 10"/>
          <p:cNvSpPr/>
          <p:nvPr/>
        </p:nvSpPr>
        <p:spPr>
          <a:xfrm>
            <a:off x="690562" y="3399086"/>
            <a:ext cx="1746684" cy="7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24"/>
              </a:lnSpc>
              <a:buNone/>
            </a:pPr>
            <a:r>
              <a:rPr lang="en-US" sz="202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Wildlife</a:t>
            </a:r>
            <a:endParaRPr lang="en-US" sz="2020" dirty="0"/>
          </a:p>
          <a:p>
            <a:pPr marL="0" indent="0" algn="l">
              <a:lnSpc>
                <a:spcPts val="3024"/>
              </a:lnSpc>
              <a:buNone/>
            </a:pPr>
            <a:r>
              <a:rPr lang="en-US" sz="202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Overview</a:t>
            </a:r>
            <a:endParaRPr lang="en-US" sz="2020" dirty="0"/>
          </a:p>
        </p:txBody>
      </p:sp>
      <p:sp>
        <p:nvSpPr>
          <p:cNvPr id="13" name="Shape 11"/>
          <p:cNvSpPr/>
          <p:nvPr/>
        </p:nvSpPr>
        <p:spPr>
          <a:xfrm>
            <a:off x="3262313" y="2433935"/>
            <a:ext cx="2619375" cy="1938337"/>
          </a:xfrm>
          <a:prstGeom prst="rect">
            <a:avLst/>
          </a:prstGeom>
          <a:solidFill>
            <a:srgbClr val="203D2B"/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94708" y="2600920"/>
            <a:ext cx="1059939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2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4320" dirty="0"/>
          </a:p>
        </p:txBody>
      </p:sp>
      <p:sp>
        <p:nvSpPr>
          <p:cNvPr id="15" name="Text 13"/>
          <p:cNvSpPr/>
          <p:nvPr/>
        </p:nvSpPr>
        <p:spPr>
          <a:xfrm>
            <a:off x="3494708" y="3399086"/>
            <a:ext cx="235168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2020" b="1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Park Explore</a:t>
            </a:r>
            <a:endParaRPr lang="en-US" sz="2020" dirty="0"/>
          </a:p>
        </p:txBody>
      </p:sp>
      <p:sp>
        <p:nvSpPr>
          <p:cNvPr id="16" name="Shape 14"/>
          <p:cNvSpPr/>
          <p:nvPr/>
        </p:nvSpPr>
        <p:spPr>
          <a:xfrm>
            <a:off x="6066458" y="2433935"/>
            <a:ext cx="2619375" cy="1938337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98853" y="2600920"/>
            <a:ext cx="1049878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2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4320" dirty="0"/>
          </a:p>
        </p:txBody>
      </p:sp>
      <p:sp>
        <p:nvSpPr>
          <p:cNvPr id="18" name="Text 16"/>
          <p:cNvSpPr/>
          <p:nvPr/>
        </p:nvSpPr>
        <p:spPr>
          <a:xfrm>
            <a:off x="6298853" y="3399086"/>
            <a:ext cx="2411276" cy="7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24"/>
              </a:lnSpc>
              <a:buNone/>
            </a:pPr>
            <a:r>
              <a:rPr lang="en-US" sz="202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Conservation</a:t>
            </a:r>
            <a:endParaRPr lang="en-US" sz="2020" dirty="0"/>
          </a:p>
          <a:p>
            <a:pPr marL="0" indent="0" algn="l">
              <a:lnSpc>
                <a:spcPts val="3024"/>
              </a:lnSpc>
              <a:buNone/>
            </a:pPr>
            <a:r>
              <a:rPr lang="en-US" sz="202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</a:t>
            </a:r>
            <a:endParaRPr lang="en-US" sz="2020" dirty="0"/>
          </a:p>
        </p:txBody>
      </p:sp>
      <p:sp>
        <p:nvSpPr>
          <p:cNvPr id="19" name="Text 17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7088" y="866626"/>
            <a:ext cx="347663" cy="42863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020" y="785813"/>
            <a:ext cx="224691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220" dirty="0">
                <a:solidFill>
                  <a:srgbClr val="203D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/ DASHBOARD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4834570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Wildlife Overview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029368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high-level view of species composition, presence patterns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filters.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598177" y="1889336"/>
            <a:ext cx="952500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969777" y="1889336"/>
            <a:ext cx="952500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41377" y="1889336"/>
            <a:ext cx="952500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8177" y="3212418"/>
            <a:ext cx="952500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969777" y="3210223"/>
            <a:ext cx="952500" cy="11239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41377" y="3212418"/>
            <a:ext cx="952500" cy="9001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9145" y="2148483"/>
            <a:ext cx="23334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by Category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4709145" y="2612306"/>
            <a:ext cx="258763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by Seasonality</a:t>
            </a:r>
            <a:endParaRPr lang="en-US" sz="1440" dirty="0"/>
          </a:p>
        </p:txBody>
      </p:sp>
      <p:sp>
        <p:nvSpPr>
          <p:cNvPr id="36" name="Text 34"/>
          <p:cNvSpPr/>
          <p:nvPr/>
        </p:nvSpPr>
        <p:spPr>
          <a:xfrm>
            <a:off x="4709145" y="3076129"/>
            <a:ext cx="331394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vs Non-Native Species</a:t>
            </a:r>
            <a:endParaRPr lang="en-US" sz="1440" dirty="0"/>
          </a:p>
        </p:txBody>
      </p:sp>
      <p:sp>
        <p:nvSpPr>
          <p:cNvPr id="37" name="Text 35"/>
          <p:cNvSpPr/>
          <p:nvPr/>
        </p:nvSpPr>
        <p:spPr>
          <a:xfrm>
            <a:off x="4709145" y="3539951"/>
            <a:ext cx="280151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Abundance · Occurrence</a:t>
            </a:r>
            <a:endParaRPr lang="en-US" sz="1440" dirty="0"/>
          </a:p>
        </p:txBody>
      </p:sp>
      <p:sp>
        <p:nvSpPr>
          <p:cNvPr id="38" name="Text 36"/>
          <p:cNvSpPr/>
          <p:nvPr/>
        </p:nvSpPr>
        <p:spPr>
          <a:xfrm>
            <a:off x="4709145" y="3968576"/>
            <a:ext cx="359699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50" kern="0" spc="138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FILTERS: CATEGORY · PARK NAME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177" y="3212418"/>
            <a:ext cx="952500" cy="900113"/>
          </a:xfrm>
          <a:prstGeom prst="rect">
            <a:avLst/>
          </a:prstGeom>
        </p:spPr>
      </p:pic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9777" y="3210223"/>
            <a:ext cx="952500" cy="1123950"/>
          </a:xfrm>
          <a:prstGeom prst="rect">
            <a:avLst/>
          </a:prstGeom>
        </p:spPr>
      </p:pic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1377" y="3212418"/>
            <a:ext cx="952500" cy="900113"/>
          </a:xfrm>
          <a:prstGeom prst="rect">
            <a:avLst/>
          </a:prstGeom>
        </p:spPr>
      </p:pic>
      <p:pic>
        <p:nvPicPr>
          <p:cNvPr id="4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9629" y="2047094"/>
            <a:ext cx="3976687" cy="361950"/>
          </a:xfrm>
          <a:prstGeom prst="rect">
            <a:avLst/>
          </a:prstGeom>
        </p:spPr>
      </p:pic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9629" y="2510917"/>
            <a:ext cx="3976687" cy="361950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9629" y="2974739"/>
            <a:ext cx="3976687" cy="361950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09629" y="3438562"/>
            <a:ext cx="3976687" cy="361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20BE96-FB17-229F-0B4E-8BE7D677B1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108" y="2235732"/>
            <a:ext cx="4220264" cy="23832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338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5208463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Species by Category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390976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the distribution of species across wildlife categories and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understand biodiversity composition.</a:t>
            </a:r>
            <a:endParaRPr lang="en-US" sz="1510" dirty="0"/>
          </a:p>
        </p:txBody>
      </p:sp>
      <p:sp>
        <p:nvSpPr>
          <p:cNvPr id="10" name="Text 8"/>
          <p:cNvSpPr/>
          <p:nvPr/>
        </p:nvSpPr>
        <p:spPr>
          <a:xfrm>
            <a:off x="457200" y="2671018"/>
            <a:ext cx="25602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THE VISUAL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64731"/>
            <a:ext cx="393529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category volume, then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57200" y="3206055"/>
            <a:ext cx="356081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filters to isolate a park or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457200" y="3447380"/>
            <a:ext cx="116296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category.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3914180" y="2469914"/>
            <a:ext cx="4772025" cy="19526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572" y="3907892"/>
            <a:ext cx="3181350" cy="328613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180" y="2469914"/>
            <a:ext cx="4772025" cy="1952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1411F4-EEB3-E938-DED9-58F4C8F72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918" y="2469914"/>
            <a:ext cx="3191320" cy="17147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5789280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Species by Seasonality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691655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how species are distributed according to seasonal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patterns and helps identify seasonal wildlife trends.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7200" y="2469914"/>
            <a:ext cx="4972050" cy="19526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94606" y="2926742"/>
            <a:ext cx="457200" cy="1081087"/>
          </a:xfrm>
          <a:prstGeom prst="rect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35427" y="4068291"/>
            <a:ext cx="1755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805732" y="3235821"/>
            <a:ext cx="457200" cy="771525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51970" y="4068291"/>
            <a:ext cx="1647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716857" y="2721471"/>
            <a:ext cx="457200" cy="1285875"/>
          </a:xfrm>
          <a:prstGeom prst="rect">
            <a:avLst/>
          </a:prstGeom>
          <a:solidFill>
            <a:srgbClr val="7E92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52938" y="4068291"/>
            <a:ext cx="18503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627983" y="3492996"/>
            <a:ext cx="457200" cy="514350"/>
          </a:xfrm>
          <a:prstGeom prst="rect">
            <a:avLst/>
          </a:prstGeom>
          <a:solidFill>
            <a:srgbClr val="B0B7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66676" y="4068291"/>
            <a:ext cx="17981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539109" y="3082491"/>
            <a:ext cx="457200" cy="923925"/>
          </a:xfrm>
          <a:prstGeom prst="rect">
            <a:avLst/>
          </a:prstGeom>
          <a:solidFill>
            <a:srgbClr val="1F3D2B">
              <a:alpha val="7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88733" y="4068291"/>
            <a:ext cx="15795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703540" y="2550319"/>
            <a:ext cx="25602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THE VISUAL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03540" y="2844031"/>
            <a:ext cx="306996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Seasonality groups make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5703540" y="3085356"/>
            <a:ext cx="308360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recurring patterns visible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5703540" y="3326681"/>
            <a:ext cx="335524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scanning individual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5703540" y="3568005"/>
            <a:ext cx="104088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records.</a:t>
            </a:r>
            <a:endParaRPr lang="en-US" sz="1580" dirty="0"/>
          </a:p>
        </p:txBody>
      </p:sp>
      <p:sp>
        <p:nvSpPr>
          <p:cNvPr id="27" name="Text 25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469914"/>
            <a:ext cx="4972050" cy="1952625"/>
          </a:xfrm>
          <a:prstGeom prst="rect">
            <a:avLst/>
          </a:prstGeom>
        </p:spPr>
      </p:pic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508" y="4028517"/>
            <a:ext cx="2981325" cy="328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A9F1F4-E6E2-4B05-AD0F-0CADD98AA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79" y="2296643"/>
            <a:ext cx="4465794" cy="19526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7566653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Native vs Non-Native Species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522653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Compares native and non-native species to understand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composition and nativeness.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7684" y="2519437"/>
            <a:ext cx="3976687" cy="1905000"/>
          </a:xfrm>
          <a:prstGeom prst="rect">
            <a:avLst/>
          </a:prstGeom>
          <a:solidFill>
            <a:srgbClr val="E7E4D9"/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750665" y="2776612"/>
            <a:ext cx="1390650" cy="1390650"/>
          </a:xfrm>
          <a:prstGeom prst="ellipse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8178" y="2772519"/>
            <a:ext cx="104775" cy="104775"/>
          </a:xfrm>
          <a:prstGeom prst="rect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03366" y="2661493"/>
            <a:ext cx="2579988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Native Species</a:t>
            </a:r>
            <a:endParaRPr lang="en-US" sz="2020" dirty="0"/>
          </a:p>
        </p:txBody>
      </p:sp>
      <p:sp>
        <p:nvSpPr>
          <p:cNvPr id="16" name="Shape 14"/>
          <p:cNvSpPr/>
          <p:nvPr/>
        </p:nvSpPr>
        <p:spPr>
          <a:xfrm>
            <a:off x="4708178" y="3310830"/>
            <a:ext cx="104775" cy="104775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03366" y="3199805"/>
            <a:ext cx="349281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Non-Native Species</a:t>
            </a:r>
            <a:endParaRPr lang="en-US" sz="2020" dirty="0"/>
          </a:p>
        </p:txBody>
      </p:sp>
      <p:sp>
        <p:nvSpPr>
          <p:cNvPr id="19" name="Text 17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629" y="3710211"/>
            <a:ext cx="3976687" cy="6000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E5B5202-553A-C46B-0BEE-1B80E60D6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237" y="2505065"/>
            <a:ext cx="9526" cy="133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EF8F97-B756-9389-F1B2-18E024088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09" y="2519437"/>
            <a:ext cx="4041315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02" y="10622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6864429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Abundance &amp; Occurrence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315133" cy="727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Abundance represents the recorded level of species presence.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Occurrence represents the frequency/pattern of species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64984" y="2342720"/>
            <a:ext cx="4024312" cy="2176462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798" y="2446586"/>
            <a:ext cx="1507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ABUNDANCE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835" y="2753618"/>
            <a:ext cx="3648075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2396" y="3296692"/>
            <a:ext cx="374800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STRUCTURE · REPLACE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DATASET VALUES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44798" y="4003253"/>
            <a:ext cx="3573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0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Recorded level of species presence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76857" y="2342720"/>
            <a:ext cx="4024312" cy="2176462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50978" y="2446586"/>
            <a:ext cx="166184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OCCURRENCE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51053" y="2753618"/>
            <a:ext cx="3648075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38576" y="3296692"/>
            <a:ext cx="374800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STRUCTURE · REPLACE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DATASET VALUES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850978" y="4003253"/>
            <a:ext cx="39411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0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Frequency / pattern of species records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835" y="2753618"/>
            <a:ext cx="3648075" cy="1133475"/>
          </a:xfrm>
          <a:prstGeom prst="rect">
            <a:avLst/>
          </a:prstGeom>
        </p:spPr>
      </p:pic>
      <p:pic>
        <p:nvPicPr>
          <p:cNvPr id="4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053" y="2753618"/>
            <a:ext cx="3648075" cy="1133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170F95-9B75-9CF4-2D2D-69C393BC6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57" y="2428717"/>
            <a:ext cx="3682180" cy="1514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74FDB7-620C-7813-E42B-4510C3A45E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053" y="2469408"/>
            <a:ext cx="3664090" cy="14670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3456243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Park Explore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958749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parks using state, park name, park area and species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6530" y="2427163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866" y="2351484"/>
            <a:ext cx="150638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 by State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6530" y="2775198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866" y="2699519"/>
            <a:ext cx="10954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 Area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56530" y="3123233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866" y="3047554"/>
            <a:ext cx="30695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 Area vs Species Count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456530" y="3471267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866" y="3395588"/>
            <a:ext cx="17935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Species by Park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456530" y="3819302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866" y="3743623"/>
            <a:ext cx="38739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Distribution Across Parks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457200" y="4218310"/>
            <a:ext cx="30849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50" kern="0" spc="138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FILTERS: STATE · PARK NAME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629" y="2360526"/>
            <a:ext cx="3976687" cy="1852612"/>
          </a:xfrm>
          <a:prstGeom prst="rect">
            <a:avLst/>
          </a:prstGeom>
          <a:solidFill>
            <a:srgbClr val="E7E4D9"/>
          </a:solidFill>
          <a:ln w="9525">
            <a:solidFill>
              <a:srgbClr val="213C2B">
                <a:alpha val="3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95542" y="2881015"/>
            <a:ext cx="204787" cy="204787"/>
          </a:xfrm>
          <a:prstGeom prst="rect">
            <a:avLst/>
          </a:prstGeom>
          <a:ln w="9525">
            <a:solidFill>
              <a:srgbClr val="C98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24401" y="3203377"/>
            <a:ext cx="36283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00" b="1" kern="0" spc="156" dirty="0">
                <a:solidFill>
                  <a:srgbClr val="203D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PAGE 2 SCREENSHOT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9978" y="3496940"/>
            <a:ext cx="30679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with a verified project visual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D91E88C-C6AB-C2D1-79EE-68055BED1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414" y="2033750"/>
            <a:ext cx="5020195" cy="2723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3385624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Park by State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36588"/>
            <a:ext cx="62893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the distribution of national parks across states.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6530" y="2469914"/>
            <a:ext cx="4376738" cy="19526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4798" y="3834036"/>
            <a:ext cx="433820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STRUCTURE · REPLACE WITH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VALUES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106888" y="2671018"/>
            <a:ext cx="20461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ANALYTICAL USE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06888" y="2964731"/>
            <a:ext cx="468994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park representation by state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5106888" y="3206055"/>
            <a:ext cx="400852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then drill into individual park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5106888" y="3447380"/>
            <a:ext cx="104088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records.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530" y="2469914"/>
            <a:ext cx="4376738" cy="1952625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6144" y="3907892"/>
            <a:ext cx="3581400" cy="3286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3E5FDB-C5B1-B313-CD05-EB6B4CCA3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658" y="2455627"/>
            <a:ext cx="4050342" cy="18744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91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2575828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Park Area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405003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park area as a comparison field for understanding the scale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protected spaces.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7684" y="2132112"/>
            <a:ext cx="5424487" cy="2290762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798" y="2333402"/>
            <a:ext cx="30884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 AREA DISTRIBUTION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5802" y="2692822"/>
            <a:ext cx="5048250" cy="15430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66458" y="3057711"/>
            <a:ext cx="2619375" cy="1366837"/>
          </a:xfrm>
          <a:prstGeom prst="rect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94090" y="3239765"/>
            <a:ext cx="1458888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[area]</a:t>
            </a:r>
            <a:endParaRPr lang="en-US" sz="2880" dirty="0"/>
          </a:p>
        </p:txBody>
      </p:sp>
      <p:sp>
        <p:nvSpPr>
          <p:cNvPr id="24" name="Text 22"/>
          <p:cNvSpPr/>
          <p:nvPr/>
        </p:nvSpPr>
        <p:spPr>
          <a:xfrm>
            <a:off x="6294090" y="3746450"/>
            <a:ext cx="252910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verified unit and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294090" y="3965897"/>
            <a:ext cx="263319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range from the dataset.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802" y="2692822"/>
            <a:ext cx="5048250" cy="1543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7EE83-E330-1487-D4EA-5099C9C83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02" y="2619598"/>
            <a:ext cx="5048250" cy="16162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7010407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Park Area vs Species Count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022113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the relationship between park area and species count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assuming a causal relationship.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827336" y="2575657"/>
            <a:ext cx="4124325" cy="16383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351517" y="4266926"/>
            <a:ext cx="11246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08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PARK AREA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504631" y="2577703"/>
            <a:ext cx="2039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04631" y="2876178"/>
            <a:ext cx="313903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pie chart view helps reveal</a:t>
            </a:r>
            <a:endParaRPr lang="en-US" sz="1510" dirty="0"/>
          </a:p>
        </p:txBody>
      </p:sp>
      <p:sp>
        <p:nvSpPr>
          <p:cNvPr id="20" name="Text 18"/>
          <p:cNvSpPr/>
          <p:nvPr/>
        </p:nvSpPr>
        <p:spPr>
          <a:xfrm>
            <a:off x="5504631" y="3106564"/>
            <a:ext cx="41421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concentration, spread and possible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5504631" y="3336950"/>
            <a:ext cx="97045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outliers.</a:t>
            </a:r>
            <a:endParaRPr lang="en-US" sz="1510" dirty="0"/>
          </a:p>
        </p:txBody>
      </p:sp>
      <p:sp>
        <p:nvSpPr>
          <p:cNvPr id="23" name="Text 21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336" y="2575657"/>
            <a:ext cx="4124325" cy="163830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5041" y="3730526"/>
            <a:ext cx="3181350" cy="547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033FA-7A71-015A-114F-5CAC6C178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36" y="2189200"/>
            <a:ext cx="4174547" cy="20423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91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4059019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Species by Park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791489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species records across parks and identify where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composition differs.</a:t>
            </a:r>
            <a:endParaRPr lang="en-US" sz="1510" dirty="0"/>
          </a:p>
        </p:txBody>
      </p:sp>
      <p:sp>
        <p:nvSpPr>
          <p:cNvPr id="10" name="Text 8"/>
          <p:cNvSpPr/>
          <p:nvPr/>
        </p:nvSpPr>
        <p:spPr>
          <a:xfrm>
            <a:off x="457200" y="2546077"/>
            <a:ext cx="2266556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20" b="1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PARK</a:t>
            </a:r>
            <a:endParaRPr lang="en-US" sz="4320" dirty="0"/>
          </a:p>
        </p:txBody>
      </p:sp>
      <p:sp>
        <p:nvSpPr>
          <p:cNvPr id="11" name="Text 9"/>
          <p:cNvSpPr/>
          <p:nvPr/>
        </p:nvSpPr>
        <p:spPr>
          <a:xfrm>
            <a:off x="457200" y="3249960"/>
            <a:ext cx="368348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species lens can be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57200" y="3491285"/>
            <a:ext cx="258840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applied park by park.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3714713" y="2469914"/>
            <a:ext cx="4972050" cy="19526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02273" y="3219896"/>
            <a:ext cx="864915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02273" y="3834036"/>
            <a:ext cx="5283339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STRUCTURE · REPLACE WITH DATASET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130" y="3951796"/>
            <a:ext cx="2981325" cy="328613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13" y="2469914"/>
            <a:ext cx="4972050" cy="1952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575B92-C2AF-EBA7-110D-EC7CBA0635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13" y="2500877"/>
            <a:ext cx="4950079" cy="19526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91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7088" y="866626"/>
            <a:ext cx="347663" cy="42863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9053520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Distribution Across Parks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964167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category mix to see how biodiversity composition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changes by park.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7684" y="2469914"/>
            <a:ext cx="3976687" cy="1952625"/>
          </a:xfrm>
          <a:prstGeom prst="rect">
            <a:avLst/>
          </a:prstGeom>
          <a:solidFill>
            <a:srgbClr val="E7E4D9"/>
          </a:solidFill>
          <a:ln w="9525">
            <a:solidFill>
              <a:srgbClr val="213C2B">
                <a:alpha val="3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343596" y="3040410"/>
            <a:ext cx="204787" cy="204787"/>
          </a:xfrm>
          <a:prstGeom prst="rect">
            <a:avLst/>
          </a:prstGeom>
          <a:ln w="9525">
            <a:solidFill>
              <a:srgbClr val="C98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24495" y="3362771"/>
            <a:ext cx="45331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00" b="1" kern="0" spc="156" dirty="0">
                <a:solidFill>
                  <a:srgbClr val="203D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CATEGORY-BY-PARK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8033" y="3656335"/>
            <a:ext cx="30679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with a verified project visual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708475" y="2775347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811" y="2699668"/>
            <a:ext cx="32072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category presence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4708475" y="3123381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811" y="3047702"/>
            <a:ext cx="335553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Spot concentrated categories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4708475" y="3471416"/>
            <a:ext cx="47625" cy="47625"/>
          </a:xfrm>
          <a:prstGeom prst="ellipse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811" y="3395737"/>
            <a:ext cx="279774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park and state filters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629" y="3855355"/>
            <a:ext cx="3976687" cy="328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E897A8-018A-D927-3E42-C1C67B6B6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88" y="2441973"/>
            <a:ext cx="4103186" cy="20035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57200" y="1217414"/>
            <a:ext cx="5393234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5040" b="1" kern="0" spc="-277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Conservation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457200" y="1793453"/>
            <a:ext cx="33300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5040" b="1" kern="0" spc="-277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</a:t>
            </a:r>
            <a:endParaRPr lang="en-US" sz="5040" dirty="0"/>
          </a:p>
        </p:txBody>
      </p:sp>
      <p:sp>
        <p:nvSpPr>
          <p:cNvPr id="9" name="Text 7"/>
          <p:cNvSpPr/>
          <p:nvPr/>
        </p:nvSpPr>
        <p:spPr>
          <a:xfrm>
            <a:off x="457200" y="2670423"/>
            <a:ext cx="57028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7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status labels to rare species, the final</a:t>
            </a:r>
            <a:endParaRPr lang="en-US" sz="1730" dirty="0"/>
          </a:p>
        </p:txBody>
      </p:sp>
      <p:sp>
        <p:nvSpPr>
          <p:cNvPr id="10" name="Text 8"/>
          <p:cNvSpPr/>
          <p:nvPr/>
        </p:nvSpPr>
        <p:spPr>
          <a:xfrm>
            <a:off x="457200" y="2933700"/>
            <a:ext cx="50116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7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page focuses attention on</a:t>
            </a:r>
            <a:endParaRPr lang="en-US" sz="1730" dirty="0"/>
          </a:p>
        </p:txBody>
      </p:sp>
      <p:sp>
        <p:nvSpPr>
          <p:cNvPr id="11" name="Text 9"/>
          <p:cNvSpPr/>
          <p:nvPr/>
        </p:nvSpPr>
        <p:spPr>
          <a:xfrm>
            <a:off x="457200" y="3196977"/>
            <a:ext cx="29168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7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conservation context.</a:t>
            </a:r>
            <a:endParaRPr lang="en-US" sz="1730" dirty="0"/>
          </a:p>
        </p:txBody>
      </p:sp>
      <p:sp>
        <p:nvSpPr>
          <p:cNvPr id="14" name="Text 12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A65069-CDB0-BE74-74F2-437B8ABD9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670" y="2029690"/>
            <a:ext cx="4011921" cy="23795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91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5221330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Conservation Status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018550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how species records are distributed across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conservation status categories.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6530" y="2469914"/>
            <a:ext cx="4376738" cy="19526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4798" y="3834036"/>
            <a:ext cx="433820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STRUCTURE · REPLACE WITH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kern="0" spc="13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VALUES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106888" y="2671018"/>
            <a:ext cx="211332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VIEW TO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06888" y="2964731"/>
            <a:ext cx="448302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status categories and filter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5106888" y="3206055"/>
            <a:ext cx="424011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result by park, state or species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5106888" y="3447380"/>
            <a:ext cx="116296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category.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530" y="2469914"/>
            <a:ext cx="4376738" cy="1952625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6144" y="3907892"/>
            <a:ext cx="3581400" cy="328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C3CBAD-3EB3-6BE6-6BCE-CC4A82A522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48" y="2400132"/>
            <a:ext cx="4441295" cy="20224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91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7053166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Rare &amp; Threatened Species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36588"/>
            <a:ext cx="651123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rare and threatened species for focused review.</a:t>
            </a:r>
            <a:endParaRPr lang="en-US" sz="1510" dirty="0"/>
          </a:p>
        </p:txBody>
      </p:sp>
      <p:sp>
        <p:nvSpPr>
          <p:cNvPr id="11" name="Text 9"/>
          <p:cNvSpPr/>
          <p:nvPr/>
        </p:nvSpPr>
        <p:spPr>
          <a:xfrm>
            <a:off x="736253" y="2767905"/>
            <a:ext cx="2341431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4320" dirty="0"/>
          </a:p>
        </p:txBody>
      </p:sp>
      <p:sp>
        <p:nvSpPr>
          <p:cNvPr id="15" name="Text 13"/>
          <p:cNvSpPr/>
          <p:nvPr/>
        </p:nvSpPr>
        <p:spPr>
          <a:xfrm>
            <a:off x="4988198" y="2767905"/>
            <a:ext cx="3273504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4320" dirty="0"/>
          </a:p>
        </p:txBody>
      </p:sp>
      <p:sp>
        <p:nvSpPr>
          <p:cNvPr id="16" name="Text 14"/>
          <p:cNvSpPr/>
          <p:nvPr/>
        </p:nvSpPr>
        <p:spPr>
          <a:xfrm>
            <a:off x="4988198" y="3476551"/>
            <a:ext cx="342325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Cross-check rare records with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4988198" y="3695998"/>
            <a:ext cx="400610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Conservation Status before drawing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988198" y="3915445"/>
            <a:ext cx="14158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conclusions.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B943A-E9C3-33A8-9236-27CC0D5B6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61" y="2266075"/>
            <a:ext cx="2456646" cy="1929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D9EDC2-196E-75D2-E4EC-7D7D235A5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548" y="2296410"/>
            <a:ext cx="2076542" cy="19029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9108177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/>
              <a:t>Species by conservation Status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6869653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Presence patterns can be reviewed alongside conservation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categories.</a:t>
            </a:r>
            <a:endParaRPr lang="en-US" sz="1510" dirty="0"/>
          </a:p>
        </p:txBody>
      </p:sp>
      <p:sp>
        <p:nvSpPr>
          <p:cNvPr id="12" name="Shape 10"/>
          <p:cNvSpPr/>
          <p:nvPr/>
        </p:nvSpPr>
        <p:spPr>
          <a:xfrm>
            <a:off x="644835" y="3001938"/>
            <a:ext cx="3648075" cy="123348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 flipH="1">
            <a:off x="2465249" y="3880693"/>
            <a:ext cx="56234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684888" y="3880693"/>
            <a:ext cx="15795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851053" y="3001938"/>
            <a:ext cx="3648075" cy="123348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96823" y="3880693"/>
            <a:ext cx="1755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948601" y="3880693"/>
            <a:ext cx="1647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5E4511-ACEB-1D41-E081-31AE4FA8C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349213"/>
            <a:ext cx="3524185" cy="188621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3053522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280404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brings wildlife records, park context and conservation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fields into one interactive analytical view.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8167" y="2613943"/>
            <a:ext cx="2619375" cy="1809750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0562" y="2895154"/>
            <a:ext cx="623456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2880" dirty="0"/>
          </a:p>
        </p:txBody>
      </p:sp>
      <p:sp>
        <p:nvSpPr>
          <p:cNvPr id="12" name="Text 10"/>
          <p:cNvSpPr/>
          <p:nvPr/>
        </p:nvSpPr>
        <p:spPr>
          <a:xfrm>
            <a:off x="690562" y="3489424"/>
            <a:ext cx="2412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data supports</a:t>
            </a:r>
            <a:endParaRPr lang="en-US" sz="1510" dirty="0"/>
          </a:p>
        </p:txBody>
      </p:sp>
      <p:sp>
        <p:nvSpPr>
          <p:cNvPr id="13" name="Text 11"/>
          <p:cNvSpPr/>
          <p:nvPr/>
        </p:nvSpPr>
        <p:spPr>
          <a:xfrm>
            <a:off x="690562" y="3719810"/>
            <a:ext cx="18831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clearer analysis.</a:t>
            </a:r>
            <a:endParaRPr lang="en-US" sz="1510" dirty="0"/>
          </a:p>
        </p:txBody>
      </p:sp>
      <p:sp>
        <p:nvSpPr>
          <p:cNvPr id="14" name="Shape 12"/>
          <p:cNvSpPr/>
          <p:nvPr/>
        </p:nvSpPr>
        <p:spPr>
          <a:xfrm>
            <a:off x="3262313" y="2613943"/>
            <a:ext cx="2619375" cy="1809750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94708" y="2895154"/>
            <a:ext cx="725708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3494708" y="3489424"/>
            <a:ext cx="276021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DAX measures keep KPI</a:t>
            </a:r>
            <a:endParaRPr lang="en-US" sz="1510" dirty="0"/>
          </a:p>
        </p:txBody>
      </p:sp>
      <p:sp>
        <p:nvSpPr>
          <p:cNvPr id="17" name="Text 15"/>
          <p:cNvSpPr/>
          <p:nvPr/>
        </p:nvSpPr>
        <p:spPr>
          <a:xfrm>
            <a:off x="3494708" y="3719810"/>
            <a:ext cx="192961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logic consistent.</a:t>
            </a:r>
            <a:endParaRPr lang="en-US" sz="1510" dirty="0"/>
          </a:p>
        </p:txBody>
      </p:sp>
      <p:sp>
        <p:nvSpPr>
          <p:cNvPr id="18" name="Shape 16"/>
          <p:cNvSpPr/>
          <p:nvPr/>
        </p:nvSpPr>
        <p:spPr>
          <a:xfrm>
            <a:off x="6066458" y="2613943"/>
            <a:ext cx="2619375" cy="1809750"/>
          </a:xfrm>
          <a:prstGeom prst="rect">
            <a:avLst/>
          </a:prstGeom>
          <a:solidFill>
            <a:srgbClr val="203D2B"/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98853" y="2895154"/>
            <a:ext cx="719033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C98B4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6298853" y="3489424"/>
            <a:ext cx="271106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F4F0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views make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6298853" y="3719810"/>
            <a:ext cx="262845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F4F0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comparisons easier to</a:t>
            </a:r>
            <a:endParaRPr lang="en-US" sz="1510" dirty="0"/>
          </a:p>
        </p:txBody>
      </p:sp>
      <p:sp>
        <p:nvSpPr>
          <p:cNvPr id="22" name="Text 20"/>
          <p:cNvSpPr/>
          <p:nvPr/>
        </p:nvSpPr>
        <p:spPr>
          <a:xfrm>
            <a:off x="6298853" y="3950196"/>
            <a:ext cx="169947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F4F0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communicate.</a:t>
            </a:r>
            <a:endParaRPr lang="en-US" sz="1510" dirty="0"/>
          </a:p>
        </p:txBody>
      </p:sp>
      <p:sp>
        <p:nvSpPr>
          <p:cNvPr id="23" name="Text 21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6573"/>
            <a:ext cx="8229600" cy="2857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97061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8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1071339"/>
            <a:ext cx="2933179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46" dirty="0">
                <a:solidFill>
                  <a:srgbClr val="203D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References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457200" y="1641246"/>
            <a:ext cx="7036043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the final source list used for the dataset, definitions and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457684" y="2521855"/>
            <a:ext cx="3976687" cy="1247775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58522" y="2571750"/>
            <a:ext cx="2245652" cy="387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SOURCE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8522" y="3124126"/>
            <a:ext cx="39766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</a:rPr>
              <a:t>Dataset Source : Kaggle</a:t>
            </a:r>
          </a:p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</a:rPr>
              <a:t>Data Used: Wildlife &amp; National Park dataset.</a:t>
            </a:r>
            <a:endParaRPr lang="en-US" sz="1510" dirty="0"/>
          </a:p>
        </p:txBody>
      </p:sp>
      <p:sp>
        <p:nvSpPr>
          <p:cNvPr id="14" name="Shape 12"/>
          <p:cNvSpPr/>
          <p:nvPr/>
        </p:nvSpPr>
        <p:spPr>
          <a:xfrm>
            <a:off x="4709629" y="2521855"/>
            <a:ext cx="3976687" cy="1247775"/>
          </a:xfrm>
          <a:prstGeom prst="rect">
            <a:avLst/>
          </a:prstGeom>
          <a:solidFill>
            <a:srgbClr val="EAE6DA">
              <a:alpha val="74902"/>
            </a:srgbClr>
          </a:solidFill>
          <a:ln w="4763">
            <a:solidFill>
              <a:srgbClr val="223C28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42508" y="2768501"/>
            <a:ext cx="26145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84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 REFERENCES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42508" y="3066976"/>
            <a:ext cx="44683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Power BI, Power Query and DAX</a:t>
            </a:r>
            <a:endParaRPr lang="en-US" sz="1510" dirty="0"/>
          </a:p>
        </p:txBody>
      </p:sp>
      <p:sp>
        <p:nvSpPr>
          <p:cNvPr id="17" name="Text 15"/>
          <p:cNvSpPr/>
          <p:nvPr/>
        </p:nvSpPr>
        <p:spPr>
          <a:xfrm>
            <a:off x="4942508" y="3297362"/>
            <a:ext cx="13690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10" dirty="0">
                <a:solidFill>
                  <a:srgbClr val="2F3A3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references</a:t>
            </a:r>
            <a:endParaRPr lang="en-US" sz="1510" dirty="0"/>
          </a:p>
        </p:txBody>
      </p:sp>
      <p:sp>
        <p:nvSpPr>
          <p:cNvPr id="18" name="Text 16"/>
          <p:cNvSpPr/>
          <p:nvPr/>
        </p:nvSpPr>
        <p:spPr>
          <a:xfrm>
            <a:off x="457200" y="4166815"/>
            <a:ext cx="79960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kern="0" spc="138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PLACEHOLDERS WITH VERIFIED CITATIONS BEFORE SUBMISSION.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767337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6873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6573"/>
            <a:ext cx="8229600" cy="285750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044144"/>
            <a:ext cx="8229600" cy="32861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3D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7101" y="372"/>
            <a:ext cx="9144000" cy="5143500"/>
          </a:xfrm>
          <a:prstGeom prst="rect">
            <a:avLst/>
          </a:prstGeom>
          <a:solidFill>
            <a:srgbClr val="203D2B">
              <a:alpha val="85098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502816"/>
            <a:ext cx="24566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94" dirty="0">
                <a:solidFill>
                  <a:srgbClr val="C9D2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ANALYTICS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457646" y="2485430"/>
            <a:ext cx="547687" cy="42863"/>
          </a:xfrm>
          <a:prstGeom prst="rect">
            <a:avLst/>
          </a:prstGeom>
          <a:solidFill>
            <a:srgbClr val="C98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2572122"/>
            <a:ext cx="4429817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5040" b="1" kern="0" spc="-277" dirty="0">
                <a:solidFill>
                  <a:srgbClr val="F4F0E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457200" y="3431009"/>
            <a:ext cx="578047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660" dirty="0">
                <a:solidFill>
                  <a:srgbClr val="D7E0D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Wildlife Biodiversity &amp; National Park Analytics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457200" y="4638749"/>
            <a:ext cx="3342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140" dirty="0">
                <a:solidFill>
                  <a:srgbClr val="AEB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· POWER QUERY · DAX</a:t>
            </a:r>
            <a:endParaRPr lang="en-US" sz="108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12328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1375</Words>
  <Application>Microsoft Office PowerPoint</Application>
  <PresentationFormat>On-screen Show (16:9)</PresentationFormat>
  <Paragraphs>378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DM Sans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Dhivyasree V</cp:lastModifiedBy>
  <cp:revision>13</cp:revision>
  <dcterms:created xsi:type="dcterms:W3CDTF">2026-09-13T05:35:12Z</dcterms:created>
  <dcterms:modified xsi:type="dcterms:W3CDTF">2026-09-30T13:48:44Z</dcterms:modified>
</cp:coreProperties>
</file>